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8" r:id="rId19"/>
    <p:sldId id="259" r:id="rId7"/>
    <p:sldId id="260" r:id="rId8"/>
    <p:sldId id="261" r:id="rId9"/>
    <p:sldId id="269" r:id="rId20"/>
    <p:sldId id="270" r:id="rId21"/>
    <p:sldId id="271" r:id="rId22"/>
    <p:sldId id="272" r:id="rId23"/>
    <p:sldId id="264" r:id="rId10"/>
    <p:sldId id="280" r:id="rId31"/>
    <p:sldId id="281" r:id="rId32"/>
    <p:sldId id="282" r:id="rId33"/>
    <p:sldId id="283" r:id="rId34"/>
    <p:sldId id="284" r:id="rId35"/>
    <p:sldId id="262" r:id="rId11"/>
    <p:sldId id="285" r:id="rId36"/>
    <p:sldId id="263" r:id="rId12"/>
    <p:sldId id="286" r:id="rId37"/>
    <p:sldId id="265" r:id="rId13"/>
    <p:sldId id="273" r:id="rId24"/>
    <p:sldId id="274" r:id="rId25"/>
    <p:sldId id="277" r:id="rId28"/>
    <p:sldId id="287" r:id="rId38"/>
    <p:sldId id="288" r:id="rId39"/>
    <p:sldId id="266" r:id="rId14"/>
    <p:sldId id="275" r:id="rId26"/>
    <p:sldId id="276" r:id="rId27"/>
    <p:sldId id="289" r:id="rId40"/>
    <p:sldId id="290" r:id="rId41"/>
    <p:sldId id="291" r:id="rId42"/>
    <p:sldId id="278" r:id="rId29"/>
    <p:sldId id="279" r:id="rId30"/>
    <p:sldId id="267" r:id="rId15"/>
  </p:sldIdLst>
  <p:sldSz cx="18288000" cy="10287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封面背景图来自用户提供的原PPT。保留原项目名称、汇报人和日期。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内容整理自用户提供的原PPT及此前老师文件要求。右侧视觉来自原PPT背景素材。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节目清单按老师文件十五个候选单元中的十二个正式节目整理。火鼓可作为序幕，户外绝技和篝火可作为终场延伸，不占正式单元名额。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底图来源：老师文件《大三.docx》第7页。A、B、C比例为方案建议值，不是场地实测面积比例。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三张流线底图及标注来自用户原PPT素材。疏散方案不能替代正式消防设计。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结构图及A区空间说明来自用户原PPT。图中结构方案用于课程设计表达。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结构图来自用户原PPT。转换顺序为本方案进一步整理，用于说明一景多用及节目之间的空间联系。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文化背景参考：中国非物质文化遗产网“土家族哭嫁歌” https://www.ihchina.cn/art/detail/id/12356.html 。故事与舞台调度为本方案的舞台化改编。效果图来自用户原PPT。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本页明确将“湘西赶尸”处理为民间传说的舞台化改编。节目主题及归乡、忠义方向依据老师文件要求。效果图来自用户原PPT。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B区概念和视觉素材来自用户原PPT。演员人数为方案建议值，可根据排练规模调整。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C区概念和篝火图片来自用户原PPT。实际使用明火时需要另行完成消防、安全距离和应急预案审批。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结束页背景来自用户原PPT。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7088" r="7088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0">
                  <a:alpha val="96000"/>
                </a:srgbClr>
              </a:gs>
              <a:gs pos="52000">
                <a:srgbClr val="0D1110">
                  <a:alpha val="70000"/>
                </a:srgbClr>
              </a:gs>
              <a:gs pos="100000">
                <a:srgbClr val="0D1110">
                  <a:alpha val="30000"/>
                </a:srgbClr>
              </a:gs>
            </a:gsLst>
            <a:lin ang="0"/>
          </a:gradFill>
          <a:ln w="0">
            <a:noFill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43000" y="2857500"/>
            <a:ext cx="933450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690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690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魅力湘西</a:t>
            </a:r>
            <a:endParaRPr sz="6900" b="1">
              <a:solidFill>
                <a:srgbClr val="F1EEE5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200150" y="4514850"/>
            <a:ext cx="1428750" cy="0"/>
          </a:xfrm>
          <a:prstGeom prst="line">
            <a:avLst/>
          </a:prstGeom>
          <a:noFill/>
          <a:ln w="57150">
            <a:solidFill>
              <a:srgbClr val="C6A66B"/>
            </a:solidFill>
            <a:prstDash val="solid"/>
          </a:ln>
        </p:spPr>
        <p:txBody>
          <a:bodyPr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81100" y="4905375"/>
            <a:ext cx="8572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255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大型综艺主题节目演出舞美设计</a:t>
            </a:r>
            <a:endParaRPr sz="2550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5810250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6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中期汇报</a:t>
            </a:r>
            <a:endParaRPr sz="1650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200150" y="8191500"/>
            <a:ext cx="4095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725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汇报人  张妍</a:t>
            </a:r>
            <a:endParaRPr sz="1725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  <a:p>
            <a:pPr algn="l">
              <a:defRPr sz="1725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725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2026.10.8</a:t>
            </a:r>
            <a:endParaRPr sz="1725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001500" y="8477250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defRPr sz="150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50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空间叙事 / 一景多用 / 室内外联动</a:t>
            </a:r>
            <a:endParaRPr sz="1500" b="0">
              <a:solidFill>
                <a:srgbClr val="9FA59C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矩形 24"/>
          <p:cNvSpPr>
            <a:spLocks noGrp="1"/>
          </p:cNvSpPr>
          <p:nvPr/>
        </p:nvSpPr>
        <p:spPr>
          <a:xfrm>
            <a:off x="685800" y="523875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275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PROJECT FRAMEWORK</a:t>
            </a:r>
            <a:endParaRPr sz="1275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66750" y="952500"/>
            <a:ext cx="114300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37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37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设计命题与方法</a:t>
            </a:r>
            <a:endParaRPr sz="3750" b="1">
              <a:solidFill>
                <a:srgbClr val="F1EEE5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1695450"/>
            <a:ext cx="12001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65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以湘西山谷为统一空间原型，用可变装置连接不同节目</a:t>
            </a:r>
            <a:endParaRPr sz="1650" b="0">
              <a:solidFill>
                <a:srgbClr val="9FA59C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66750" y="9658350"/>
            <a:ext cx="16954500" cy="0"/>
          </a:xfrm>
          <a:prstGeom prst="line">
            <a:avLst/>
          </a:prstGeom>
          <a:noFill/>
          <a:ln w="9525">
            <a:solidFill>
              <a:srgbClr val="38413C"/>
            </a:solidFill>
            <a:prstDash val="solid"/>
          </a:ln>
        </p:spPr>
        <p:txBody>
          <a:bodyPr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9791700"/>
            <a:ext cx="4762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20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魅力湘西 · 演出舞美设计</a:t>
            </a:r>
            <a:endParaRPr sz="1200" b="0">
              <a:solidFill>
                <a:srgbClr val="9FA59C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6478250" y="9734550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defRPr sz="13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3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02</a:t>
            </a:r>
            <a:endParaRPr sz="1350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rcRect l="34304" r="34304"/>
          <a:stretch>
            <a:fillRect/>
          </a:stretch>
        </p:blipFill>
        <p:spPr>
          <a:xfrm>
            <a:off x="12001500" y="0"/>
            <a:ext cx="6286500" cy="9667875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11334750" y="0"/>
            <a:ext cx="6953250" cy="9667875"/>
          </a:xfrm>
          <a:prstGeom prst="rect">
            <a:avLst/>
          </a:prstGeom>
          <a:gradFill>
            <a:gsLst>
              <a:gs pos="0">
                <a:srgbClr val="0D1110">
                  <a:alpha val="100000"/>
                </a:srgbClr>
              </a:gs>
              <a:gs pos="100000">
                <a:srgbClr val="0D1110">
                  <a:alpha val="15000"/>
                </a:srgbClr>
              </a:gs>
            </a:gsLst>
            <a:lin ang="0"/>
          </a:gradFill>
          <a:ln w="0">
            <a:noFill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2857500"/>
            <a:ext cx="857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9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01</a:t>
            </a:r>
            <a:endParaRPr sz="1950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809750" y="281940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22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节目分析</a:t>
            </a:r>
            <a:endParaRPr sz="2250" b="1">
              <a:solidFill>
                <a:srgbClr val="F1EEE5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810125" y="2857500"/>
            <a:ext cx="6191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65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梳理十二个单元的文化内涵、情绪节奏和空间需求</a:t>
            </a:r>
            <a:endParaRPr sz="1650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857250" y="3648075"/>
            <a:ext cx="10096500" cy="0"/>
          </a:xfrm>
          <a:prstGeom prst="line">
            <a:avLst/>
          </a:prstGeom>
          <a:noFill/>
          <a:ln w="9525">
            <a:solidFill>
              <a:srgbClr val="38413C"/>
            </a:solidFill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7250" y="4286250"/>
            <a:ext cx="857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9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02</a:t>
            </a:r>
            <a:endParaRPr sz="1950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809750" y="42481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22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空间构成</a:t>
            </a:r>
            <a:endParaRPr sz="2250" b="1">
              <a:solidFill>
                <a:srgbClr val="F1EEE5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810125" y="4286250"/>
            <a:ext cx="6191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65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以A、B、C三区形成室内叙事、露天奇观和广场互动</a:t>
            </a:r>
            <a:endParaRPr sz="1650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857250" y="5076825"/>
            <a:ext cx="10096500" cy="0"/>
          </a:xfrm>
          <a:prstGeom prst="line">
            <a:avLst/>
          </a:prstGeom>
          <a:noFill/>
          <a:ln w="9525">
            <a:solidFill>
              <a:srgbClr val="38413C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57250" y="5715000"/>
            <a:ext cx="857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9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03</a:t>
            </a:r>
            <a:endParaRPr sz="1950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809750" y="567690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22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一景多用</a:t>
            </a:r>
            <a:endParaRPr sz="2250" b="1">
              <a:solidFill>
                <a:srgbClr val="F1EEE5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810125" y="5715000"/>
            <a:ext cx="6191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65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固定山体与可变屋顶、楼梯、平台共同完成快速转景</a:t>
            </a:r>
            <a:endParaRPr sz="1650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857250" y="6505575"/>
            <a:ext cx="10096500" cy="0"/>
          </a:xfrm>
          <a:prstGeom prst="line">
            <a:avLst/>
          </a:prstGeom>
          <a:noFill/>
          <a:ln w="9525">
            <a:solidFill>
              <a:srgbClr val="38413C"/>
            </a:solidFill>
            <a:prstDash val="solid"/>
          </a:ln>
        </p:spPr>
        <p:txBody>
          <a:bodyPr/>
          <a:p/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57250" y="7143750"/>
            <a:ext cx="857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9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04</a:t>
            </a:r>
            <a:endParaRPr sz="1950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809750" y="71056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22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设计成果</a:t>
            </a:r>
            <a:endParaRPr sz="2250" b="1">
              <a:solidFill>
                <a:srgbClr val="F1EEE5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810125" y="7143750"/>
            <a:ext cx="6191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65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呈现空间结构、观演流线、节目调度及技术手段</a:t>
            </a:r>
            <a:endParaRPr sz="1650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857250" y="7934325"/>
            <a:ext cx="10096500" cy="0"/>
          </a:xfrm>
          <a:prstGeom prst="line">
            <a:avLst/>
          </a:prstGeom>
          <a:noFill/>
          <a:ln w="9525">
            <a:solidFill>
              <a:srgbClr val="38413C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85800" y="523875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275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PROGRAM STRUCTURE</a:t>
            </a:r>
            <a:endParaRPr sz="1275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66750" y="952500"/>
            <a:ext cx="114300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37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37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十二个节目与演出区域</a:t>
            </a:r>
            <a:endParaRPr sz="3750" b="1">
              <a:solidFill>
                <a:srgbClr val="F1EEE5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1695450"/>
            <a:ext cx="12001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65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情绪由原始、浪漫、离别推进至力量与全民庆典</a:t>
            </a:r>
            <a:endParaRPr sz="1650" b="0">
              <a:solidFill>
                <a:srgbClr val="9FA59C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66750" y="9658350"/>
            <a:ext cx="16954500" cy="0"/>
          </a:xfrm>
          <a:prstGeom prst="line">
            <a:avLst/>
          </a:prstGeom>
          <a:noFill/>
          <a:ln w="9525">
            <a:solidFill>
              <a:srgbClr val="38413C"/>
            </a:solidFill>
            <a:prstDash val="solid"/>
          </a:ln>
        </p:spPr>
        <p:txBody>
          <a:bodyPr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9791700"/>
            <a:ext cx="4762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20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魅力湘西 · 演出舞美设计</a:t>
            </a:r>
            <a:endParaRPr sz="1200" b="0">
              <a:solidFill>
                <a:srgbClr val="9FA59C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6478250" y="9734550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defRPr sz="13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3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03</a:t>
            </a:r>
            <a:endParaRPr sz="1350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graphicFrame>
        <p:nvGraphicFramePr>
          <p:cNvPr id="14" name="表格 13"/>
          <p:cNvGraphicFramePr/>
          <p:nvPr/>
        </p:nvGraphicFramePr>
        <p:xfrm>
          <a:off x="685800" y="2333625"/>
          <a:ext cx="16916400" cy="6810375"/>
        </p:xfrm>
        <a:graphic>
          <a:graphicData uri="http://schemas.openxmlformats.org/drawingml/2006/table">
            <a:tbl>
              <a:tblPr/>
              <a:tblGrid>
                <a:gridCol w="1238250"/>
                <a:gridCol w="4857750"/>
                <a:gridCol w="2000250"/>
                <a:gridCol w="8820150"/>
              </a:tblGrid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C6A66B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序号</a:t>
                      </a:r>
                      <a:endParaRPr sz="1575" b="1">
                        <a:solidFill>
                          <a:srgbClr val="C6A66B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1D2421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C6A66B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节目</a:t>
                      </a:r>
                      <a:endParaRPr sz="1575" b="1">
                        <a:solidFill>
                          <a:srgbClr val="C6A66B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1D2421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C6A66B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区域</a:t>
                      </a:r>
                      <a:endParaRPr sz="1575" b="1">
                        <a:solidFill>
                          <a:srgbClr val="C6A66B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1D2421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C6A66B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空间作用</a:t>
                      </a:r>
                      <a:endParaRPr sz="1575" b="1">
                        <a:solidFill>
                          <a:srgbClr val="C6A66B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1D2421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01</a:t>
                      </a:r>
                      <a:endParaRPr sz="1500" b="1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0D111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茅古斯舞</a:t>
                      </a:r>
                      <a:endParaRPr sz="1500" b="0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0D111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C6A66B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A区</a:t>
                      </a:r>
                      <a:endParaRPr sz="1500" b="0">
                        <a:solidFill>
                          <a:srgbClr val="C6A66B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0D111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建立原始祭祀气质</a:t>
                      </a:r>
                      <a:endParaRPr sz="1500" b="0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0D1110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02</a:t>
                      </a:r>
                      <a:endParaRPr sz="1500" b="1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12181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铜铃舞 / 牛铃舞</a:t>
                      </a:r>
                      <a:endParaRPr sz="1500" b="0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12181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C6A66B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A区</a:t>
                      </a:r>
                      <a:endParaRPr sz="1500" b="0">
                        <a:solidFill>
                          <a:srgbClr val="C6A66B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12181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形成牧耕生活节奏</a:t>
                      </a:r>
                      <a:endParaRPr sz="1500" b="0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121817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03</a:t>
                      </a:r>
                      <a:endParaRPr sz="1500" b="1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0D111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边城</a:t>
                      </a:r>
                      <a:endParaRPr sz="1500" b="0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0D111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C6A66B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A区</a:t>
                      </a:r>
                      <a:endParaRPr sz="1500" b="0">
                        <a:solidFill>
                          <a:srgbClr val="C6A66B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0D111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进入山水爱情叙事</a:t>
                      </a:r>
                      <a:endParaRPr sz="1500" b="0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0D1110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04</a:t>
                      </a:r>
                      <a:endParaRPr sz="1500" b="1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12181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马桑树儿搭灯台</a:t>
                      </a:r>
                      <a:endParaRPr sz="1500" b="0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12181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C6A66B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A区</a:t>
                      </a:r>
                      <a:endParaRPr sz="1500" b="0">
                        <a:solidFill>
                          <a:srgbClr val="C6A66B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12181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延续守候与离情</a:t>
                      </a:r>
                      <a:endParaRPr sz="1500" b="0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121817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05</a:t>
                      </a:r>
                      <a:endParaRPr sz="1500" b="1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0D111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情恋女儿会</a:t>
                      </a:r>
                      <a:endParaRPr sz="1500" b="0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0D111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C6A66B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A区</a:t>
                      </a:r>
                      <a:endParaRPr sz="1500" b="0">
                        <a:solidFill>
                          <a:srgbClr val="C6A66B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0D111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打开节庆交往场景</a:t>
                      </a:r>
                      <a:endParaRPr sz="1500" b="0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0D1110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06</a:t>
                      </a:r>
                      <a:endParaRPr sz="1500" b="1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12181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哭嫁</a:t>
                      </a:r>
                      <a:endParaRPr sz="1500" b="0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12181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C6A66B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A区</a:t>
                      </a:r>
                      <a:endParaRPr sz="1500" b="0">
                        <a:solidFill>
                          <a:srgbClr val="C6A66B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12181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情绪转入家庭告别</a:t>
                      </a:r>
                      <a:endParaRPr sz="1500" b="0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121817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07</a:t>
                      </a:r>
                      <a:endParaRPr sz="1500" b="1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0D111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湘西赶尸</a:t>
                      </a:r>
                      <a:endParaRPr sz="1500" b="0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0D111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C6A66B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A区</a:t>
                      </a:r>
                      <a:endParaRPr sz="1500" b="0">
                        <a:solidFill>
                          <a:srgbClr val="C6A66B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0D111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由神秘指向归乡与纪念</a:t>
                      </a:r>
                      <a:endParaRPr sz="1500" b="0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0D1110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08</a:t>
                      </a:r>
                      <a:endParaRPr sz="1500" b="1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12181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桑植仗鼓舞</a:t>
                      </a:r>
                      <a:endParaRPr sz="1500" b="0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12181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C6A66B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B区</a:t>
                      </a:r>
                      <a:endParaRPr sz="1500" b="0">
                        <a:solidFill>
                          <a:srgbClr val="C6A66B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12181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重新聚集群体力量</a:t>
                      </a:r>
                      <a:endParaRPr sz="1500" b="0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121817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09</a:t>
                      </a:r>
                      <a:endParaRPr sz="1500" b="1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0D111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板板龙灯</a:t>
                      </a:r>
                      <a:endParaRPr sz="1500" b="0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0D111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C6A66B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B区</a:t>
                      </a:r>
                      <a:endParaRPr sz="1500" b="0">
                        <a:solidFill>
                          <a:srgbClr val="C6A66B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0D111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连接巡游与外场转换</a:t>
                      </a:r>
                      <a:endParaRPr sz="1500" b="0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0D1110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10</a:t>
                      </a:r>
                      <a:endParaRPr sz="1500" b="1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12181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张家界高花灯</a:t>
                      </a:r>
                      <a:endParaRPr sz="1500" b="0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12181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C6A66B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C区</a:t>
                      </a:r>
                      <a:endParaRPr sz="1500" b="0">
                        <a:solidFill>
                          <a:srgbClr val="C6A66B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12181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形成灯彩庆典氛围</a:t>
                      </a:r>
                      <a:endParaRPr sz="1500" b="0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121817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11</a:t>
                      </a:r>
                      <a:endParaRPr sz="1500" b="1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0D111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摆手舞</a:t>
                      </a:r>
                      <a:endParaRPr sz="1500" b="0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0D111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C6A66B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C区</a:t>
                      </a:r>
                      <a:endParaRPr sz="1500" b="0">
                        <a:solidFill>
                          <a:srgbClr val="C6A66B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0D111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邀请观众进入表演</a:t>
                      </a:r>
                      <a:endParaRPr sz="1500" b="0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0D1110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12</a:t>
                      </a:r>
                      <a:endParaRPr sz="1500" b="1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12181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草狮子舞</a:t>
                      </a:r>
                      <a:endParaRPr sz="1500" b="0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12181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C6A66B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C区</a:t>
                      </a:r>
                      <a:endParaRPr sz="1500" b="0">
                        <a:solidFill>
                          <a:srgbClr val="C6A66B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12181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D6D7CF"/>
                          </a:solidFill>
                          <a:latin typeface="Noto Sans SC" panose="020B0503020204020204" charset="-122"/>
                          <a:ea typeface="Noto Sans SC" panose="020B0503020204020204" charset="-122"/>
                          <a:cs typeface="Noto Sans SC" panose="020B0503020204020204" charset="-122"/>
                        </a:rPr>
                        <a:t>以巡游和祈福收束</a:t>
                      </a:r>
                      <a:endParaRPr sz="1500" b="0">
                        <a:solidFill>
                          <a:srgbClr val="D6D7CF"/>
                        </a:solidFill>
                        <a:latin typeface="Noto Sans SC" panose="020B0503020204020204" charset="-122"/>
                        <a:ea typeface="Noto Sans SC" panose="020B0503020204020204" charset="-122"/>
                        <a:cs typeface="Noto Sans SC" panose="020B0503020204020204" charset="-122"/>
                      </a:endParaRPr>
                    </a:p>
                  </a:txBody>
                  <a:tcPr anchor="ctr">
                    <a:solidFill>
                      <a:srgbClr val="1218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685800" y="523875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275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SPATIAL FRAMEWORK</a:t>
            </a:r>
            <a:endParaRPr sz="1275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66750" y="952500"/>
            <a:ext cx="114300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37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37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A / B / C 总体空间构成</a:t>
            </a:r>
            <a:endParaRPr sz="3750" b="1">
              <a:solidFill>
                <a:srgbClr val="F1EEE5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1695450"/>
            <a:ext cx="12001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65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三个区域沿剧院到文化广场展开，空间由收敛逐步走向开放</a:t>
            </a:r>
            <a:endParaRPr sz="1650" b="0">
              <a:solidFill>
                <a:srgbClr val="9FA59C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66750" y="9658350"/>
            <a:ext cx="16954500" cy="0"/>
          </a:xfrm>
          <a:prstGeom prst="line">
            <a:avLst/>
          </a:prstGeom>
          <a:noFill/>
          <a:ln w="9525">
            <a:solidFill>
              <a:srgbClr val="38413C"/>
            </a:solidFill>
            <a:prstDash val="solid"/>
          </a:ln>
        </p:spPr>
        <p:txBody>
          <a:bodyPr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9791700"/>
            <a:ext cx="4762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20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魅力湘西 · 演出舞美设计</a:t>
            </a:r>
            <a:endParaRPr sz="1200" b="0">
              <a:solidFill>
                <a:srgbClr val="9FA59C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6478250" y="9734550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defRPr sz="13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3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05</a:t>
            </a:r>
            <a:endParaRPr sz="1350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610" y="2333625"/>
            <a:ext cx="9293280" cy="676275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666750" y="2333625"/>
            <a:ext cx="10287000" cy="6762750"/>
          </a:xfrm>
          <a:prstGeom prst="rect">
            <a:avLst/>
          </a:prstGeom>
          <a:noFill/>
          <a:ln w="9525">
            <a:solidFill>
              <a:srgbClr val="38413C"/>
            </a:solidFill>
            <a:prstDash val="solid"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620500" y="2647950"/>
            <a:ext cx="5810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50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A区 · 主舞台演区</a:t>
            </a:r>
            <a:endParaRPr sz="1500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620500" y="3076575"/>
            <a:ext cx="581025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位于剧院室内。主舞台约18米×18米，承担故事、情感和生活场景，是一景多用的核心。</a:t>
            </a:r>
            <a:endParaRPr sz="1800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620500" y="4762500"/>
            <a:ext cx="5810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7F8C78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500" b="1">
                <a:solidFill>
                  <a:srgbClr val="7F8C78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B区 · 院内露天演区</a:t>
            </a:r>
            <a:endParaRPr sz="1500" b="1">
              <a:solidFill>
                <a:srgbClr val="7F8C78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620500" y="5191125"/>
            <a:ext cx="581025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位于剧院与文化广场之间。核心表演面横向约30米，强调群体动作、垂直高度和视觉冲击。</a:t>
            </a:r>
            <a:endParaRPr sz="1800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620500" y="6877050"/>
            <a:ext cx="5810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9E5148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500" b="1">
                <a:solidFill>
                  <a:srgbClr val="9E5148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C区 · 文化广场演区</a:t>
            </a:r>
            <a:endParaRPr sz="1500" b="1">
              <a:solidFill>
                <a:srgbClr val="9E5148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620500" y="7305675"/>
            <a:ext cx="581025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靠近正面游客入口，广场范围约60米×40米。取消固定座席，形成巡游和共同参与的庆典空间。</a:t>
            </a:r>
            <a:endParaRPr sz="1800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620500" y="8810625"/>
            <a:ext cx="5810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35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体量比例为早期意向；深化以尺寸和现场条件为准</a:t>
            </a:r>
            <a:endParaRPr sz="1350" b="0">
              <a:solidFill>
                <a:srgbClr val="9FA59C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685800" y="523875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275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MOVEMENT</a:t>
            </a:r>
            <a:endParaRPr sz="1275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66750" y="952500"/>
            <a:ext cx="114300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37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37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观众、演员与疏散流线</a:t>
            </a:r>
            <a:endParaRPr sz="3750" b="1">
              <a:solidFill>
                <a:srgbClr val="F1EEE5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1695450"/>
            <a:ext cx="12001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65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三类通道独立组织，减少交叉并保持外场转换连续</a:t>
            </a:r>
            <a:endParaRPr sz="1650" b="0">
              <a:solidFill>
                <a:srgbClr val="9FA59C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66750" y="9658350"/>
            <a:ext cx="16954500" cy="0"/>
          </a:xfrm>
          <a:prstGeom prst="line">
            <a:avLst/>
          </a:prstGeom>
          <a:noFill/>
          <a:ln w="9525">
            <a:solidFill>
              <a:srgbClr val="38413C"/>
            </a:solidFill>
            <a:prstDash val="solid"/>
          </a:ln>
        </p:spPr>
        <p:txBody>
          <a:bodyPr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9791700"/>
            <a:ext cx="4762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20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魅力湘西 · 演出舞美设计</a:t>
            </a:r>
            <a:endParaRPr sz="1200" b="0">
              <a:solidFill>
                <a:srgbClr val="9FA59C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6478250" y="9734550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defRPr sz="13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3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06</a:t>
            </a:r>
            <a:endParaRPr sz="1350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rcRect l="172" r="172"/>
          <a:stretch>
            <a:fillRect/>
          </a:stretch>
        </p:blipFill>
        <p:spPr>
          <a:xfrm>
            <a:off x="666750" y="2476500"/>
            <a:ext cx="5286375" cy="398145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666750" y="2476500"/>
            <a:ext cx="5286375" cy="3981450"/>
          </a:xfrm>
          <a:prstGeom prst="rect">
            <a:avLst/>
          </a:prstGeom>
          <a:noFill/>
          <a:ln w="9525">
            <a:solidFill>
              <a:srgbClr val="38413C"/>
            </a:solidFill>
            <a:prstDash val="solid"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6858000"/>
            <a:ext cx="52863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2025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观众入场</a:t>
            </a:r>
            <a:endParaRPr sz="2025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66750" y="7410450"/>
            <a:ext cx="528637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65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正面入口进入C区集散，再经B区外围进入A区观众席</a:t>
            </a:r>
            <a:endParaRPr sz="1650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/>
          <a:srcRect l="172" r="172"/>
          <a:stretch>
            <a:fillRect/>
          </a:stretch>
        </p:blipFill>
        <p:spPr>
          <a:xfrm>
            <a:off x="6496050" y="2476500"/>
            <a:ext cx="5286375" cy="398145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6496050" y="2476500"/>
            <a:ext cx="5286375" cy="3981450"/>
          </a:xfrm>
          <a:prstGeom prst="rect">
            <a:avLst/>
          </a:prstGeom>
          <a:noFill/>
          <a:ln w="9525">
            <a:solidFill>
              <a:srgbClr val="38413C"/>
            </a:solidFill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496050" y="6858000"/>
            <a:ext cx="52863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9E5148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2025" b="1">
                <a:solidFill>
                  <a:srgbClr val="9E5148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演员通道</a:t>
            </a:r>
            <a:endParaRPr sz="2025" b="1">
              <a:solidFill>
                <a:srgbClr val="9E5148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96050" y="7410450"/>
            <a:ext cx="528637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65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后台和侧台服务A区，外场演员经两侧服务通道进入B、C区</a:t>
            </a:r>
            <a:endParaRPr sz="1650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rcRect l="172" r="172"/>
          <a:stretch>
            <a:fillRect/>
          </a:stretch>
        </p:blipFill>
        <p:spPr>
          <a:xfrm>
            <a:off x="12325350" y="2476500"/>
            <a:ext cx="5286375" cy="398145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12325350" y="2476500"/>
            <a:ext cx="5286375" cy="3981450"/>
          </a:xfrm>
          <a:prstGeom prst="rect">
            <a:avLst/>
          </a:prstGeom>
          <a:noFill/>
          <a:ln w="9525">
            <a:solidFill>
              <a:srgbClr val="38413C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2325350" y="6858000"/>
            <a:ext cx="52863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607C93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2025" b="1">
                <a:solidFill>
                  <a:srgbClr val="607C93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消防疏散</a:t>
            </a:r>
            <a:endParaRPr sz="2025" b="1">
              <a:solidFill>
                <a:srgbClr val="607C93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2325350" y="7410450"/>
            <a:ext cx="528637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65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A区左右分流，B区通向文化广场，C区连接正面及南侧出口</a:t>
            </a:r>
            <a:endParaRPr sz="1650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66750" y="8858250"/>
            <a:ext cx="13811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35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注：疏散线路为课程方案表达，最终出口数量和通道宽度需结合现场消防条件核定。</a:t>
            </a:r>
            <a:endParaRPr sz="1350" b="0">
              <a:solidFill>
                <a:srgbClr val="9FA59C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685800" y="523875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275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ZONE A</a:t>
            </a:r>
            <a:endParaRPr sz="1275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66750" y="952500"/>
            <a:ext cx="114300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37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37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A区 · 山谷叙事主舞台</a:t>
            </a:r>
            <a:endParaRPr sz="3750" b="1">
              <a:solidFill>
                <a:srgbClr val="F1EEE5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1695450"/>
            <a:ext cx="12001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65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固定山体形成统一骨架，可变屋顶、楼梯和平台承担节目转换</a:t>
            </a:r>
            <a:endParaRPr sz="1650" b="0">
              <a:solidFill>
                <a:srgbClr val="9FA59C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66750" y="9658350"/>
            <a:ext cx="16954500" cy="0"/>
          </a:xfrm>
          <a:prstGeom prst="line">
            <a:avLst/>
          </a:prstGeom>
          <a:noFill/>
          <a:ln w="9525">
            <a:solidFill>
              <a:srgbClr val="38413C"/>
            </a:solidFill>
            <a:prstDash val="solid"/>
          </a:ln>
        </p:spPr>
        <p:txBody>
          <a:bodyPr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9791700"/>
            <a:ext cx="4762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20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魅力湘西 · 演出舞美设计</a:t>
            </a:r>
            <a:endParaRPr sz="1200" b="0">
              <a:solidFill>
                <a:srgbClr val="9FA59C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6478250" y="9734550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defRPr sz="13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3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07</a:t>
            </a:r>
            <a:endParaRPr sz="1350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257175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6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空间原型</a:t>
            </a:r>
            <a:endParaRPr sz="1650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3124200"/>
            <a:ext cx="5619750" cy="1666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875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从湘西山体、吊脚楼、木构平台和河流中提取结构关系，不复制真实村寨，通过柱、梁、屋顶和高低平台建立写意山谷。</a:t>
            </a:r>
            <a:endParaRPr sz="1875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5286375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6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一景多用</a:t>
            </a:r>
            <a:endParaRPr sz="1650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5838825"/>
            <a:ext cx="561975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875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山体与基础平台保持固定。屋顶可升降，楼梯可向两侧平移，中心圆台可转动，使同一空间在家庭、河岸、集市和山路之间转换。</a:t>
            </a:r>
            <a:endParaRPr sz="1875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23900" y="807720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6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结构原则</a:t>
            </a:r>
            <a:endParaRPr sz="1650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23900" y="8629650"/>
            <a:ext cx="56197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725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演员能够真实使用楼梯、平台和门槛，机械装置服务剧情，不承担纯装饰功能。</a:t>
            </a:r>
            <a:endParaRPr sz="1725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213" y="2381250"/>
            <a:ext cx="10286575" cy="6477000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7239000" y="2381250"/>
            <a:ext cx="10287000" cy="6477000"/>
          </a:xfrm>
          <a:prstGeom prst="rect">
            <a:avLst/>
          </a:prstGeom>
          <a:noFill/>
          <a:ln w="9525">
            <a:solidFill>
              <a:srgbClr val="38413C"/>
            </a:solidFill>
            <a:prstDash val="solid"/>
          </a:ln>
        </p:spPr>
        <p:txBody>
          <a:bodyPr/>
          <a:p/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82000" y="9001125"/>
            <a:ext cx="7810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35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中心舞台 · 可变屋顶 · 平移楼梯 · 两侧木构平台</a:t>
            </a:r>
            <a:endParaRPr sz="1350" b="0">
              <a:solidFill>
                <a:srgbClr val="9FA59C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685800" y="523875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275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SCENE TRANSFORMATION</a:t>
            </a:r>
            <a:endParaRPr sz="1275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66750" y="952500"/>
            <a:ext cx="114300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37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lang="zh-CN" sz="37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场景</a:t>
            </a:r>
            <a:r>
              <a:rPr lang="zh-CN" sz="37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转换</a:t>
            </a:r>
            <a:endParaRPr lang="zh-CN" sz="3750" b="1">
              <a:solidFill>
                <a:srgbClr val="F1EEE5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1695450"/>
            <a:ext cx="12001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65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同一吊脚楼空间由温暖家庭转化为纵深山路</a:t>
            </a:r>
            <a:endParaRPr sz="1650" b="0">
              <a:solidFill>
                <a:srgbClr val="9FA59C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66750" y="9658350"/>
            <a:ext cx="16954500" cy="0"/>
          </a:xfrm>
          <a:prstGeom prst="line">
            <a:avLst/>
          </a:prstGeom>
          <a:noFill/>
          <a:ln w="9525">
            <a:solidFill>
              <a:srgbClr val="38413C"/>
            </a:solidFill>
            <a:prstDash val="solid"/>
          </a:ln>
        </p:spPr>
        <p:txBody>
          <a:bodyPr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9791700"/>
            <a:ext cx="4762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20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魅力湘西 · 演出舞美设计</a:t>
            </a:r>
            <a:endParaRPr sz="1200" b="0">
              <a:solidFill>
                <a:srgbClr val="9FA59C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6478250" y="9734550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defRPr sz="13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3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12</a:t>
            </a:r>
            <a:endParaRPr sz="1350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75" y="2957195"/>
            <a:ext cx="8585835" cy="5405755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142875" y="2924175"/>
            <a:ext cx="8584565" cy="5500370"/>
          </a:xfrm>
          <a:prstGeom prst="rect">
            <a:avLst/>
          </a:prstGeom>
          <a:noFill/>
          <a:ln w="9525">
            <a:solidFill>
              <a:srgbClr val="38413C"/>
            </a:solidFill>
            <a:prstDash val="solid"/>
          </a:ln>
        </p:spPr>
        <p:txBody>
          <a:bodyPr/>
          <a:p>
            <a:endParaRPr lang="zh-CN" altLang="en-US">
              <a:latin typeface="Noto Sans SC"/>
              <a:ea typeface="Noto Sans SC"/>
              <a:cs typeface="Noto Sans SC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3795" y="2981325"/>
            <a:ext cx="8547735" cy="538226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8783955" y="2983230"/>
            <a:ext cx="8546465" cy="5374005"/>
          </a:xfrm>
          <a:prstGeom prst="rect">
            <a:avLst/>
          </a:prstGeom>
          <a:noFill/>
          <a:ln w="9525">
            <a:solidFill>
              <a:srgbClr val="38413C"/>
            </a:solidFill>
            <a:prstDash val="solid"/>
          </a:ln>
        </p:spPr>
        <p:txBody>
          <a:bodyPr/>
          <a:p/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04850" y="752475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950" b="1">
                <a:solidFill>
                  <a:srgbClr val="9E5148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endParaRPr sz="1950" b="1">
              <a:solidFill>
                <a:srgbClr val="9E5148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685800" y="523875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275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PROGRAM 06</a:t>
            </a:r>
            <a:endParaRPr sz="1275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66750" y="952500"/>
            <a:ext cx="114300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37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37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《哭嫁》 · 家庭空间中的离别仪式</a:t>
            </a:r>
            <a:endParaRPr sz="3750" b="1">
              <a:solidFill>
                <a:srgbClr val="F1EEE5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1695450"/>
            <a:ext cx="12001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65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吊脚楼、门槛和女性哭唱共同完成从女儿到新娘的身份转换</a:t>
            </a:r>
            <a:endParaRPr sz="1650" b="0">
              <a:solidFill>
                <a:srgbClr val="9FA59C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66750" y="9658350"/>
            <a:ext cx="16954500" cy="0"/>
          </a:xfrm>
          <a:prstGeom prst="line">
            <a:avLst/>
          </a:prstGeom>
          <a:noFill/>
          <a:ln w="9525">
            <a:solidFill>
              <a:srgbClr val="38413C"/>
            </a:solidFill>
            <a:prstDash val="solid"/>
          </a:ln>
        </p:spPr>
        <p:txBody>
          <a:bodyPr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9791700"/>
            <a:ext cx="4762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20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魅力湘西 · 演出舞美设计</a:t>
            </a:r>
            <a:endParaRPr sz="1200" b="0">
              <a:solidFill>
                <a:srgbClr val="9FA59C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6478250" y="9734550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defRPr sz="13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3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18</a:t>
            </a:r>
            <a:endParaRPr sz="1350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2724150"/>
            <a:ext cx="5905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9E5148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500" b="1">
                <a:solidFill>
                  <a:srgbClr val="9E5148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故事背景</a:t>
            </a:r>
            <a:endParaRPr sz="1500" b="1">
              <a:solidFill>
                <a:srgbClr val="9E5148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3152775"/>
            <a:ext cx="590550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土家族哭嫁歌是婚礼仪式中的叙事抒情长歌。舞台截取梳头、陪哭、告别和跨过门槛四个节点，表现对父母的感谢与离家的不舍。</a:t>
            </a:r>
            <a:endParaRPr sz="1800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04850" y="5000625"/>
            <a:ext cx="5905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9E5148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500" b="1">
                <a:solidFill>
                  <a:srgbClr val="9E5148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舞台元素</a:t>
            </a:r>
            <a:endParaRPr sz="1500" b="1">
              <a:solidFill>
                <a:srgbClr val="9E5148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04850" y="5429250"/>
            <a:ext cx="59055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二层闺房、中央圆台、木梯和门槛组成家庭空间。嫁衣、木梳、铜镜、油灯、织锦和嫁妆木箱提供表演支点。</a:t>
            </a:r>
            <a:endParaRPr sz="1800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04850" y="7124700"/>
            <a:ext cx="5905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9E5148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500" b="1">
                <a:solidFill>
                  <a:srgbClr val="9E5148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动作与声音</a:t>
            </a:r>
            <a:endParaRPr sz="1500" b="1">
              <a:solidFill>
                <a:srgbClr val="9E5148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04850" y="7553325"/>
            <a:ext cx="5905500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新娘从闺房走向中央圆台，母亲与姐妹由两侧木梯进入。独唱逐渐发展为母女对哭和女性合唱，结尾加入远处迎亲鼓乐。</a:t>
            </a:r>
            <a:endParaRPr sz="1800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rcRect l="31" r="31"/>
          <a:stretch>
            <a:fillRect/>
          </a:stretch>
        </p:blipFill>
        <p:spPr>
          <a:xfrm>
            <a:off x="7524750" y="2333625"/>
            <a:ext cx="10096500" cy="5676900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7524750" y="2333625"/>
            <a:ext cx="10096500" cy="5676900"/>
          </a:xfrm>
          <a:prstGeom prst="rect">
            <a:avLst/>
          </a:prstGeom>
          <a:noFill/>
          <a:ln w="9525">
            <a:solidFill>
              <a:srgbClr val="38413C"/>
            </a:solidFill>
            <a:prstDash val="solid"/>
          </a:ln>
        </p:spPr>
        <p:txBody>
          <a:bodyPr/>
          <a:p/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096250" y="8334375"/>
            <a:ext cx="8953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725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暖红与琥珀色压缩空间尺度，观众视线集中在母女关系和门槛动作。</a:t>
            </a:r>
            <a:endParaRPr sz="1725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685800" y="523875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275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PROGRAM 07</a:t>
            </a:r>
            <a:endParaRPr sz="1275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66750" y="952500"/>
            <a:ext cx="114300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37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37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《湘西赶尸》 · 山路上的归乡叙事</a:t>
            </a:r>
            <a:endParaRPr sz="3750" b="1">
              <a:solidFill>
                <a:srgbClr val="F1EEE5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1695450"/>
            <a:ext cx="12001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65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以民间传说为文化外壳，把神秘感转化为归乡、忠义和纪念</a:t>
            </a:r>
            <a:endParaRPr sz="1650" b="0">
              <a:solidFill>
                <a:srgbClr val="9FA59C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66750" y="9658350"/>
            <a:ext cx="16954500" cy="0"/>
          </a:xfrm>
          <a:prstGeom prst="line">
            <a:avLst/>
          </a:prstGeom>
          <a:noFill/>
          <a:ln w="9525">
            <a:solidFill>
              <a:srgbClr val="38413C"/>
            </a:solidFill>
            <a:prstDash val="solid"/>
          </a:ln>
        </p:spPr>
        <p:txBody>
          <a:bodyPr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9791700"/>
            <a:ext cx="4762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20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魅力湘西 · 演出舞美设计</a:t>
            </a:r>
            <a:endParaRPr sz="1200" b="0">
              <a:solidFill>
                <a:srgbClr val="9FA59C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6478250" y="9734550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defRPr sz="13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3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20</a:t>
            </a:r>
            <a:endParaRPr sz="1350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rcRect l="39" r="39"/>
          <a:stretch>
            <a:fillRect/>
          </a:stretch>
        </p:blipFill>
        <p:spPr>
          <a:xfrm>
            <a:off x="666750" y="2333625"/>
            <a:ext cx="10096500" cy="5686425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666750" y="2333625"/>
            <a:ext cx="10096500" cy="5686425"/>
          </a:xfrm>
          <a:prstGeom prst="rect">
            <a:avLst/>
          </a:prstGeom>
          <a:noFill/>
          <a:ln w="9525">
            <a:solidFill>
              <a:srgbClr val="38413C"/>
            </a:solidFill>
            <a:prstDash val="solid"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38250" y="8334375"/>
            <a:ext cx="8953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725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冷色逆光、薄雾与纵深队列建立夜行山路。铃声、脚步和水声从远处靠近，黎明时转为庄重音乐。</a:t>
            </a:r>
            <a:endParaRPr sz="1725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430000" y="2724150"/>
            <a:ext cx="6000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607C93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500" b="1">
                <a:solidFill>
                  <a:srgbClr val="607C93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故事设定</a:t>
            </a:r>
            <a:endParaRPr sz="1500" b="1">
              <a:solidFill>
                <a:srgbClr val="607C93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430000" y="3152775"/>
            <a:ext cx="6000750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领路人提灯进入山谷，引导一队归乡者穿过山路和溪流。等待的家人凭借一件信物辨认亲人，最终完成迎接和纪念。</a:t>
            </a:r>
            <a:endParaRPr sz="1800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430000" y="5000625"/>
            <a:ext cx="6000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607C93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500" b="1">
                <a:solidFill>
                  <a:srgbClr val="607C93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舞台元素</a:t>
            </a:r>
            <a:endParaRPr sz="1500" b="1">
              <a:solidFill>
                <a:srgbClr val="607C93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430000" y="5429250"/>
            <a:ext cx="600075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屋顶升高形成山门，楼梯平移至两侧，中央通道完全打开。引路灯、竹竿、绳索、石碑和后区水幕构成夜行环境。</a:t>
            </a:r>
            <a:endParaRPr sz="1800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430000" y="7124700"/>
            <a:ext cx="6000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607C93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500" b="1">
                <a:solidFill>
                  <a:srgbClr val="607C93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动作与技术</a:t>
            </a:r>
            <a:endParaRPr sz="1500" b="1">
              <a:solidFill>
                <a:srgbClr val="607C93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430000" y="7553325"/>
            <a:ext cx="6000750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领路人在前，6至10人组成归乡队列。演员使用低重心行走、停顿和统一节奏，投影、薄雾及局部幻术辅助人物出现与消失。</a:t>
            </a:r>
            <a:endParaRPr sz="1800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685800" y="523875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275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ZONE B</a:t>
            </a:r>
            <a:endParaRPr sz="1275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66750" y="952500"/>
            <a:ext cx="114300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37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37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B区 · 山谷奇观场</a:t>
            </a:r>
            <a:endParaRPr sz="3750" b="1">
              <a:solidFill>
                <a:srgbClr val="F1EEE5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1695450"/>
            <a:ext cx="12001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65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从生活山谷转向大尺度群体表演和垂直视觉奇观</a:t>
            </a:r>
            <a:endParaRPr sz="1650" b="0">
              <a:solidFill>
                <a:srgbClr val="9FA59C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66750" y="9658350"/>
            <a:ext cx="16954500" cy="0"/>
          </a:xfrm>
          <a:prstGeom prst="line">
            <a:avLst/>
          </a:prstGeom>
          <a:noFill/>
          <a:ln w="9525">
            <a:solidFill>
              <a:srgbClr val="38413C"/>
            </a:solidFill>
            <a:prstDash val="solid"/>
          </a:ln>
        </p:spPr>
        <p:txBody>
          <a:bodyPr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9791700"/>
            <a:ext cx="4762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20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魅力湘西 · 演出舞美设计</a:t>
            </a:r>
            <a:endParaRPr sz="1200" b="0">
              <a:solidFill>
                <a:srgbClr val="9FA59C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6478250" y="9734550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defRPr sz="13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3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22</a:t>
            </a:r>
            <a:endParaRPr sz="1350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2781300"/>
            <a:ext cx="733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50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空间组织</a:t>
            </a:r>
            <a:endParaRPr sz="1500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3209925"/>
            <a:ext cx="733425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B区位于剧院与文化广场之间，表演核心横向约30米。观众从正面和两侧观看，中央保持无遮挡的完整动作面。</a:t>
            </a:r>
            <a:endParaRPr sz="1800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2000" y="5095875"/>
            <a:ext cx="733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50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核心装置</a:t>
            </a:r>
            <a:endParaRPr sz="1500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62000" y="5524500"/>
            <a:ext cx="733425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可变木构高架在常态下属于山谷结构，节目开始时升起为击鼓台、灯架或垂直绝技装置。</a:t>
            </a:r>
            <a:endParaRPr sz="1800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7239000"/>
            <a:ext cx="733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50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节目与技术</a:t>
            </a:r>
            <a:endParaRPr sz="1500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62000" y="7667625"/>
            <a:ext cx="733425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桑植仗鼓舞使用16至24人的大队形，板板龙灯沿外场通道巡游。低角度强光、鼓点扩声和可编程灯具强化节奏。</a:t>
            </a:r>
            <a:endParaRPr sz="1800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525000" y="1714500"/>
            <a:ext cx="7810500" cy="7810500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9525000" y="1714500"/>
            <a:ext cx="7810500" cy="7810500"/>
          </a:xfrm>
          <a:prstGeom prst="rect">
            <a:avLst/>
          </a:prstGeom>
          <a:noFill/>
          <a:ln w="9525">
            <a:solidFill>
              <a:srgbClr val="38413C"/>
            </a:solidFill>
            <a:prstDash val="solid"/>
          </a:ln>
        </p:spPr>
        <p:txBody>
          <a:bodyPr/>
          <a:p/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525000" y="1714500"/>
            <a:ext cx="7810500" cy="7810500"/>
          </a:xfrm>
          <a:prstGeom prst="rect">
            <a:avLst/>
          </a:prstGeom>
          <a:gradFill>
            <a:gsLst>
              <a:gs pos="60000">
                <a:srgbClr val="0D1110">
                  <a:alpha val="0"/>
                </a:srgbClr>
              </a:gs>
              <a:gs pos="100000">
                <a:srgbClr val="0D1110">
                  <a:alpha val="70000"/>
                </a:srgbClr>
              </a:gs>
            </a:gsLst>
            <a:lin ang="0"/>
          </a:gradFill>
          <a:ln w="0">
            <a:noFill/>
          </a:ln>
        </p:spPr>
        <p:txBody>
          <a:bodyPr/>
          <a:p/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477500" y="8715375"/>
            <a:ext cx="5905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22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22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群体 · 高度 · 力量</a:t>
            </a:r>
            <a:endParaRPr sz="2250" b="1">
              <a:solidFill>
                <a:srgbClr val="F1EEE5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685800" y="523875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275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ZONE C</a:t>
            </a:r>
            <a:endParaRPr sz="1275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66750" y="952500"/>
            <a:ext cx="114300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37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37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C区 · 山谷公共庆典场</a:t>
            </a:r>
            <a:endParaRPr sz="3750" b="1">
              <a:solidFill>
                <a:srgbClr val="F1EEE5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1695450"/>
            <a:ext cx="12001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65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舞台边界逐渐消失，文化广场成为终场表演空间</a:t>
            </a:r>
            <a:endParaRPr sz="1650" b="0">
              <a:solidFill>
                <a:srgbClr val="9FA59C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66750" y="9658350"/>
            <a:ext cx="16954500" cy="0"/>
          </a:xfrm>
          <a:prstGeom prst="line">
            <a:avLst/>
          </a:prstGeom>
          <a:noFill/>
          <a:ln w="9525">
            <a:solidFill>
              <a:srgbClr val="38413C"/>
            </a:solidFill>
            <a:prstDash val="solid"/>
          </a:ln>
        </p:spPr>
        <p:txBody>
          <a:bodyPr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9791700"/>
            <a:ext cx="4762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20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魅力湘西 · 演出舞美设计</a:t>
            </a:r>
            <a:endParaRPr sz="1200" b="0">
              <a:solidFill>
                <a:srgbClr val="9FA59C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6478250" y="9734550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defRPr sz="13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3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28</a:t>
            </a:r>
            <a:endParaRPr sz="1350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rcRect l="19" r="19"/>
          <a:stretch>
            <a:fillRect/>
          </a:stretch>
        </p:blipFill>
        <p:spPr>
          <a:xfrm>
            <a:off x="10572750" y="1428750"/>
            <a:ext cx="6191250" cy="8258175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10572750" y="1428750"/>
            <a:ext cx="6191250" cy="8258175"/>
          </a:xfrm>
          <a:prstGeom prst="rect">
            <a:avLst/>
          </a:prstGeom>
          <a:noFill/>
          <a:ln w="9525">
            <a:solidFill>
              <a:srgbClr val="38413C"/>
            </a:solidFill>
            <a:prstDash val="solid"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2000" y="2857500"/>
            <a:ext cx="7524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9E5148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500" b="1">
                <a:solidFill>
                  <a:srgbClr val="9E5148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空间关系</a:t>
            </a:r>
            <a:endParaRPr sz="1500" b="1">
              <a:solidFill>
                <a:srgbClr val="9E5148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62000" y="3286125"/>
            <a:ext cx="752475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C区取消固定座席，中央设置表演核心，外围保留观众站立、巡游和连续疏散空间。</a:t>
            </a:r>
            <a:endParaRPr sz="1800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4953000"/>
            <a:ext cx="7524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9E5148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500" b="1">
                <a:solidFill>
                  <a:srgbClr val="9E5148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互动方式</a:t>
            </a:r>
            <a:endParaRPr sz="1500" b="1">
              <a:solidFill>
                <a:srgbClr val="9E5148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62000" y="5381625"/>
            <a:ext cx="7524750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摆手舞先由演员建立同心圆，再由外围演员邀请观众加入。草狮子舞和高花灯从广场边缘巡游进入。</a:t>
            </a:r>
            <a:endParaRPr sz="1800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62000" y="7143750"/>
            <a:ext cx="7524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9E5148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500" b="1">
                <a:solidFill>
                  <a:srgbClr val="9E5148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环境利用</a:t>
            </a:r>
            <a:endParaRPr sz="1500" b="1">
              <a:solidFill>
                <a:srgbClr val="9E5148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" y="7572375"/>
            <a:ext cx="752475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保留山体轮廓和周边植被，通过低位灯光、鼓乐和火焰意象形成夜间庆典。东侧溪流只作为环境边界，不承担疏散功能。</a:t>
            </a:r>
            <a:endParaRPr sz="1800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810750" y="8763000"/>
            <a:ext cx="7810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22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2250" b="1">
                <a:solidFill>
                  <a:srgbClr val="C6A66B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演员 + 观众 + 火 + 山谷</a:t>
            </a:r>
            <a:endParaRPr sz="2250" b="1">
              <a:solidFill>
                <a:srgbClr val="C6A66B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l="7088" r="7088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D1110">
              <a:alpha val="80000"/>
            </a:srgbClr>
          </a:solidFill>
          <a:ln w="0">
            <a:noFill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048250" y="3733800"/>
            <a:ext cx="819150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58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5850" b="1">
                <a:solidFill>
                  <a:srgbClr val="F1EEE5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感谢观看</a:t>
            </a:r>
            <a:endParaRPr sz="5850" b="1">
              <a:solidFill>
                <a:srgbClr val="F1EEE5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7953375" y="5219700"/>
            <a:ext cx="2381250" cy="0"/>
          </a:xfrm>
          <a:prstGeom prst="line">
            <a:avLst/>
          </a:prstGeom>
          <a:noFill/>
          <a:ln w="47625">
            <a:solidFill>
              <a:srgbClr val="C6A66B"/>
            </a:solidFill>
            <a:prstDash val="solid"/>
          </a:ln>
        </p:spPr>
        <p:txBody>
          <a:bodyPr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0" y="5619750"/>
            <a:ext cx="80010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800" b="0">
                <a:solidFill>
                  <a:srgbClr val="D6D7CF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魅力湘西 · 演出舞美设计中期汇报</a:t>
            </a:r>
            <a:endParaRPr sz="1800" b="0">
              <a:solidFill>
                <a:srgbClr val="D6D7CF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0" y="7334250"/>
            <a:ext cx="5715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defRPr>
            </a:pPr>
            <a:r>
              <a:rPr sz="1500" b="0">
                <a:solidFill>
                  <a:srgbClr val="9FA59C"/>
                </a:solidFill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rPr>
              <a:t>张妍  /  2026.10.8</a:t>
            </a:r>
            <a:endParaRPr sz="1500" b="0">
              <a:solidFill>
                <a:srgbClr val="9FA59C"/>
              </a:solidFill>
              <a:latin typeface="Noto Sans SC" panose="020B0503020204020204" charset="-122"/>
              <a:ea typeface="Noto Sans SC" panose="020B0503020204020204" charset="-122"/>
              <a:cs typeface="Noto Sans SC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645920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DESIGN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41832"/>
            <a:ext cx="16916400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深化依据与“支点”的定义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1682496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从空间概念推进到可以讲清、画清、排练验证的舞美方案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9646920"/>
            <a:ext cx="16916400" cy="0"/>
          </a:xfrm>
          <a:prstGeom prst="line">
            <a:avLst/>
          </a:prstGeom>
          <a:ln w="6350">
            <a:solidFill>
              <a:srgbClr val="9FA5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84080"/>
            <a:ext cx="146304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魅力湘西 · 舞美设计深化｜新增尺寸、人数、时长均为方案建议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560320"/>
            <a:ext cx="5425440" cy="658368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34640"/>
            <a:ext cx="4876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01｜数据分级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57600"/>
            <a:ext cx="4876800" cy="5120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原稿依据：A区舞台约18×18m；B区核心横向约30m；C区广场约60×40m。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本次新增：座席、通道、外场进深、人数及时间，均属设计建议。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后续用现场测绘与建筑条件校准。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31280" y="2560320"/>
            <a:ext cx="5425440" cy="658368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5600" y="2834640"/>
            <a:ext cx="4876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02｜节目支点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3657600"/>
            <a:ext cx="4876800" cy="5120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空间支点：门槛、平台、山路、河岸等演员落点。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道具支点：铃、木梳、灯、鼓等可使用的物件。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动作／情绪支点：转身、等待、跨门、聚圈等叙事节点。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76760" y="2560320"/>
            <a:ext cx="5425440" cy="658368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51080" y="2834640"/>
            <a:ext cx="4876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03｜落实路径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51080" y="3657600"/>
            <a:ext cx="4876800" cy="5120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平面图交代位置与流线；剖面交代高差与视线；节目页交代动作与技术配合。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尺寸图为课程方案，不替代施工图或消防设计。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民俗细节与节目称谓需结合原始资料和当地传承人口径确认。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4920" y="9738360"/>
            <a:ext cx="100584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645920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ZONE A · DIMENSIONED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41832"/>
            <a:ext cx="16916400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A区｜舞台—观众席带尺寸平面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1682496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观众席正对舞台中心轴；三分块固定座席，演员从舞台两侧及后区进入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9646920"/>
            <a:ext cx="16916400" cy="0"/>
          </a:xfrm>
          <a:prstGeom prst="line">
            <a:avLst/>
          </a:prstGeom>
          <a:ln w="6350">
            <a:solidFill>
              <a:srgbClr val="9FA5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84080"/>
            <a:ext cx="146304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魅力湘西 · 舞美设计深化｜新增尺寸、人数、时长均为方案建议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697480"/>
            <a:ext cx="3247948" cy="5792175"/>
          </a:xfrm>
          <a:prstGeom prst="rect">
            <a:avLst/>
          </a:prstGeom>
          <a:solidFill>
            <a:srgbClr val="18211F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34793" y="2697480"/>
            <a:ext cx="2435961" cy="2435961"/>
          </a:xfrm>
          <a:prstGeom prst="rect">
            <a:avLst/>
          </a:prstGeom>
          <a:solidFill>
            <a:srgbClr val="283D36"/>
          </a:solidFill>
          <a:ln w="12700">
            <a:solidFill>
              <a:srgbClr val="63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0124" y="2968142"/>
            <a:ext cx="2165299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主舞台 18×18m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2697480"/>
            <a:ext cx="405993" cy="2435961"/>
          </a:xfrm>
          <a:prstGeom prst="rect">
            <a:avLst/>
          </a:prstGeom>
          <a:solidFill>
            <a:srgbClr val="322D23"/>
          </a:solidFill>
          <a:ln w="12700">
            <a:solidFill>
              <a:srgbClr val="C6A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70755" y="2697480"/>
            <a:ext cx="405993" cy="2435961"/>
          </a:xfrm>
          <a:prstGeom prst="rect">
            <a:avLst/>
          </a:prstGeom>
          <a:solidFill>
            <a:srgbClr val="322D23"/>
          </a:solidFill>
          <a:ln w="12700">
            <a:solidFill>
              <a:srgbClr val="C6A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3509467"/>
            <a:ext cx="405993" cy="9144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侧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0755" y="3509467"/>
            <a:ext cx="405993" cy="9144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侧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11449" y="3509467"/>
            <a:ext cx="1082649" cy="676656"/>
          </a:xfrm>
          <a:prstGeom prst="rect">
            <a:avLst/>
          </a:prstGeom>
          <a:noFill/>
          <a:ln w="12700">
            <a:solidFill>
              <a:srgbClr val="C6A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11449" y="3644798"/>
            <a:ext cx="1082649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可变平台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5133441"/>
            <a:ext cx="3247948" cy="270662"/>
          </a:xfrm>
          <a:prstGeom prst="rect">
            <a:avLst/>
          </a:prstGeom>
          <a:solidFill>
            <a:srgbClr val="294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99462" y="5133441"/>
            <a:ext cx="2706624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台前横通道 2.00m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5404104"/>
            <a:ext cx="3247948" cy="189463"/>
          </a:xfrm>
          <a:prstGeom prst="rect">
            <a:avLst/>
          </a:prstGeom>
          <a:solidFill>
            <a:srgbClr val="33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26528" y="5404104"/>
            <a:ext cx="121798" cy="189463"/>
          </a:xfrm>
          <a:prstGeom prst="rect">
            <a:avLst/>
          </a:prstGeom>
          <a:solidFill>
            <a:srgbClr val="639C94"/>
          </a:solidFill>
          <a:ln w="12700">
            <a:solidFill>
              <a:srgbClr val="F1E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68626" y="5437936"/>
            <a:ext cx="78492" cy="101498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46055" y="5404104"/>
            <a:ext cx="121798" cy="189463"/>
          </a:xfrm>
          <a:prstGeom prst="rect">
            <a:avLst/>
          </a:prstGeom>
          <a:solidFill>
            <a:srgbClr val="639C94"/>
          </a:solidFill>
          <a:ln w="12700">
            <a:solidFill>
              <a:srgbClr val="F1E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8153" y="5437936"/>
            <a:ext cx="78492" cy="101498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07632" y="5404104"/>
            <a:ext cx="121798" cy="189463"/>
          </a:xfrm>
          <a:prstGeom prst="rect">
            <a:avLst/>
          </a:prstGeom>
          <a:solidFill>
            <a:srgbClr val="639C94"/>
          </a:solidFill>
          <a:ln w="12700">
            <a:solidFill>
              <a:srgbClr val="F1E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49730" y="5437936"/>
            <a:ext cx="78492" cy="101498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27159" y="5404104"/>
            <a:ext cx="121798" cy="189463"/>
          </a:xfrm>
          <a:prstGeom prst="rect">
            <a:avLst/>
          </a:prstGeom>
          <a:solidFill>
            <a:srgbClr val="639C94"/>
          </a:solidFill>
          <a:ln w="12700">
            <a:solidFill>
              <a:srgbClr val="F1E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69256" y="5437936"/>
            <a:ext cx="78492" cy="101498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11449" y="5404104"/>
            <a:ext cx="1082649" cy="2103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spcAft>
                <a:spcPts val="800"/>
              </a:spcAft>
              <a:defRPr sz="9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无障碍前区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39916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18408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96900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75392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53885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432377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10869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89361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67853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6345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068433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146925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25417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03910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82402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60894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539386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17878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96370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74862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096950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75443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53935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32427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410919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89411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67903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46395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724887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03379" y="56138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558137" y="5607100"/>
            <a:ext cx="292608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39916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118408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196900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275392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353885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432377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510869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589361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667853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746345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068433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146925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225417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303910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382402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460894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539386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617878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696370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774862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096950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175443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253935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332427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410919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489411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567903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646395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724887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803379" y="57627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039916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118408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196900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275392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353885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432377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510869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589361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667853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746345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068433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146925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225417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303910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382402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460894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539386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617878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696370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774862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096950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175443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253935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332427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410919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489411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567903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646395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724887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803379" y="5911596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039916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118408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2196900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275392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353885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432377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510869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589361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667853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746345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068433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3146925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3225417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3303910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382402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460894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3539386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3617878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3696370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3774862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096950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175443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253935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4332427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4410919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4489411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4567903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4646395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4724887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4803379" y="6060460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2039916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2118408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2196900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2275392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2353885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2432377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2510869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2589361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2667853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2746345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3068433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3146925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3225417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3303910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3382402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3460894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3539386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3617878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3696370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3774862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4096950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4175443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4253935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4332427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4410919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4489411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4567903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4646395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4724887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4803379" y="620932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2039916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2118408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2196900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2275392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2353885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2432377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2510869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2589361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2667853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2746345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068433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146925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225417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303910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3382402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3460894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3539386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3617878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3696370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3774862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4096950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4175443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4253935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4332427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4410919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4489411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4567903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4646395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4724887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4803379" y="635818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2039916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2118408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2196900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2275392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2353885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2432377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2510869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2589361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2667853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2746345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3068433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3146925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3225417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3303910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3382402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3460894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3539386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3617878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3696370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3774862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096950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75443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253935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4332427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4410919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4489411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4567903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4646395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4724887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4803379" y="6507053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2039916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2118408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2196900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2275392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2353885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2432377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2510869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2589361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2667853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2746345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3068433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3146925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3225417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3303910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3382402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3460894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3539386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3617878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3696370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3774862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4096950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4175443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4253935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4332427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4410919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4489411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4567903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4646395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4724887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4803379" y="665591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1558137" y="6649151"/>
            <a:ext cx="292608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8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2039916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2118408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2196900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2275392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2353885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2432377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2510869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2589361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2667853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2746345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3068433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3146925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3225417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3303910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3382402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3460894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3539386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3617878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3696370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3774862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4096950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4175443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4253935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4332427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4410919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4489411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4567903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4646395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4724887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4803379" y="699424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1558137" y="6987479"/>
            <a:ext cx="292608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9</a:t>
            </a:r>
          </a:p>
        </p:txBody>
      </p:sp>
      <p:sp>
        <p:nvSpPr>
          <p:cNvPr id="301" name="Rectangle 300"/>
          <p:cNvSpPr/>
          <p:nvPr/>
        </p:nvSpPr>
        <p:spPr>
          <a:xfrm>
            <a:off x="2039916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2118408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2196900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2275392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2353885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2432377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2510869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2589361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2667853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2746345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3068433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3146925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3225417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3303910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3382402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3460894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3539386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3617878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3696370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3774862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4096950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4175443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4253935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4332427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4410919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4489411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4567903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4646395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4724887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4803379" y="7143109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2039916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2118408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2196900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2275392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2353885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2432377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2510869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2589361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2667853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2746345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3068433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3146925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3225417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3303910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3382402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3460894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3539386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3617878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3696370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3774862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4096950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4175443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4253935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4332427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4410919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4489411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4567903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4646395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4724887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4803379" y="7291974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2039916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2118408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2196900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2275392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2353885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2432377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2510869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2589361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2667853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2746345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3068433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3146925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3225417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3303910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3382402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3460894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3539386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3617878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3696370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3774862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4096950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4175443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4253935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4332427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4410919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4489411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4567903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4646395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4724887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4803379" y="7440838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2039916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2118408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2196900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2275392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2353885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2432377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2510869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2589361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2667853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2746345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3068433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3146925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3225417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3303910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3382402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3460894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3539386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3617878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3696370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3774862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4096950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4175443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4253935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4332427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4410919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4489411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4567903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4646395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4724887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4803379" y="7589702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2039916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2118408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2196900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2275392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2353885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2432377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2510869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2589361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2667853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2746345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3068433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3146925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3225417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3303910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3382402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3460894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3539386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3617878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3696370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3774862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4096950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4175443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4253935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4332427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4410919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4489411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4567903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4646395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4724887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4803379" y="7738567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2039916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2118408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2196900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2275392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2353885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2432377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2510869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2589361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2667853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2746345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3068433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3146925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3225417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3303910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3382402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3460894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3539386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3617878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3696370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3774862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4096950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4175443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4253935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4332427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4410919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4489411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4567903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4646395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4724887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4803379" y="7887431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2039916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2118408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2196900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2275392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2353885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2432377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2510869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2589361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2667853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2746345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3068433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Rectangle 491"/>
          <p:cNvSpPr/>
          <p:nvPr/>
        </p:nvSpPr>
        <p:spPr>
          <a:xfrm>
            <a:off x="3146925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Rectangle 492"/>
          <p:cNvSpPr/>
          <p:nvPr/>
        </p:nvSpPr>
        <p:spPr>
          <a:xfrm>
            <a:off x="3225417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Rectangle 493"/>
          <p:cNvSpPr/>
          <p:nvPr/>
        </p:nvSpPr>
        <p:spPr>
          <a:xfrm>
            <a:off x="3303910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Rectangle 494"/>
          <p:cNvSpPr/>
          <p:nvPr/>
        </p:nvSpPr>
        <p:spPr>
          <a:xfrm>
            <a:off x="3382402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Rectangle 495"/>
          <p:cNvSpPr/>
          <p:nvPr/>
        </p:nvSpPr>
        <p:spPr>
          <a:xfrm>
            <a:off x="3460894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Rectangle 496"/>
          <p:cNvSpPr/>
          <p:nvPr/>
        </p:nvSpPr>
        <p:spPr>
          <a:xfrm>
            <a:off x="3539386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Rectangle 497"/>
          <p:cNvSpPr/>
          <p:nvPr/>
        </p:nvSpPr>
        <p:spPr>
          <a:xfrm>
            <a:off x="3617878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Rectangle 498"/>
          <p:cNvSpPr/>
          <p:nvPr/>
        </p:nvSpPr>
        <p:spPr>
          <a:xfrm>
            <a:off x="3696370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Rectangle 499"/>
          <p:cNvSpPr/>
          <p:nvPr/>
        </p:nvSpPr>
        <p:spPr>
          <a:xfrm>
            <a:off x="3774862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Rectangle 500"/>
          <p:cNvSpPr/>
          <p:nvPr/>
        </p:nvSpPr>
        <p:spPr>
          <a:xfrm>
            <a:off x="4096950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Rectangle 501"/>
          <p:cNvSpPr/>
          <p:nvPr/>
        </p:nvSpPr>
        <p:spPr>
          <a:xfrm>
            <a:off x="4175443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4253935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Rectangle 503"/>
          <p:cNvSpPr/>
          <p:nvPr/>
        </p:nvSpPr>
        <p:spPr>
          <a:xfrm>
            <a:off x="4332427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Rectangle 504"/>
          <p:cNvSpPr/>
          <p:nvPr/>
        </p:nvSpPr>
        <p:spPr>
          <a:xfrm>
            <a:off x="4410919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Rectangle 505"/>
          <p:cNvSpPr/>
          <p:nvPr/>
        </p:nvSpPr>
        <p:spPr>
          <a:xfrm>
            <a:off x="4489411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Rectangle 506"/>
          <p:cNvSpPr/>
          <p:nvPr/>
        </p:nvSpPr>
        <p:spPr>
          <a:xfrm>
            <a:off x="4567903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Rectangle 507"/>
          <p:cNvSpPr/>
          <p:nvPr/>
        </p:nvSpPr>
        <p:spPr>
          <a:xfrm>
            <a:off x="4646395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Rectangle 508"/>
          <p:cNvSpPr/>
          <p:nvPr/>
        </p:nvSpPr>
        <p:spPr>
          <a:xfrm>
            <a:off x="4724887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Rectangle 509"/>
          <p:cNvSpPr/>
          <p:nvPr/>
        </p:nvSpPr>
        <p:spPr>
          <a:xfrm>
            <a:off x="4803379" y="8036295"/>
            <a:ext cx="62252" cy="94731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TextBox 510"/>
          <p:cNvSpPr txBox="1"/>
          <p:nvPr/>
        </p:nvSpPr>
        <p:spPr>
          <a:xfrm>
            <a:off x="1558137" y="8029529"/>
            <a:ext cx="292608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16</a:t>
            </a:r>
          </a:p>
        </p:txBody>
      </p:sp>
      <p:sp>
        <p:nvSpPr>
          <p:cNvPr id="512" name="Rectangle 511"/>
          <p:cNvSpPr/>
          <p:nvPr/>
        </p:nvSpPr>
        <p:spPr>
          <a:xfrm>
            <a:off x="1828800" y="6784482"/>
            <a:ext cx="3247948" cy="189463"/>
          </a:xfrm>
          <a:prstGeom prst="rect">
            <a:avLst/>
          </a:prstGeom>
          <a:solidFill>
            <a:srgbClr val="294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TextBox 512"/>
          <p:cNvSpPr txBox="1"/>
          <p:nvPr/>
        </p:nvSpPr>
        <p:spPr>
          <a:xfrm>
            <a:off x="2776118" y="6784482"/>
            <a:ext cx="1353312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spcAft>
                <a:spcPts val="800"/>
              </a:spcAft>
              <a:defRPr sz="900" b="0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排间横通道 1.40m</a:t>
            </a:r>
          </a:p>
        </p:txBody>
      </p:sp>
      <p:sp>
        <p:nvSpPr>
          <p:cNvPr id="514" name="Rectangle 513"/>
          <p:cNvSpPr/>
          <p:nvPr/>
        </p:nvSpPr>
        <p:spPr>
          <a:xfrm>
            <a:off x="1828800" y="8164860"/>
            <a:ext cx="3247948" cy="324794"/>
          </a:xfrm>
          <a:prstGeom prst="rect">
            <a:avLst/>
          </a:prstGeom>
          <a:solidFill>
            <a:srgbClr val="294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TextBox 514"/>
          <p:cNvSpPr txBox="1"/>
          <p:nvPr/>
        </p:nvSpPr>
        <p:spPr>
          <a:xfrm>
            <a:off x="2370124" y="8218992"/>
            <a:ext cx="2165299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后部集散通道 2.40m</a:t>
            </a:r>
          </a:p>
        </p:txBody>
      </p:sp>
      <p:cxnSp>
        <p:nvCxnSpPr>
          <p:cNvPr id="516" name="Connector 515"/>
          <p:cNvCxnSpPr/>
          <p:nvPr/>
        </p:nvCxnSpPr>
        <p:spPr>
          <a:xfrm>
            <a:off x="2938515" y="5674766"/>
            <a:ext cx="0" cy="2408895"/>
          </a:xfrm>
          <a:prstGeom prst="line">
            <a:avLst/>
          </a:prstGeom>
          <a:ln w="12700">
            <a:solidFill>
              <a:srgbClr val="639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3967032" y="5674766"/>
            <a:ext cx="0" cy="2408895"/>
          </a:xfrm>
          <a:prstGeom prst="line">
            <a:avLst/>
          </a:prstGeom>
          <a:ln w="12700">
            <a:solidFill>
              <a:srgbClr val="639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>
            <a:off x="1828800" y="2423160"/>
            <a:ext cx="3247948" cy="0"/>
          </a:xfrm>
          <a:prstGeom prst="line">
            <a:avLst/>
          </a:prstGeom>
          <a:ln w="19050">
            <a:solidFill>
              <a:srgbClr val="C6A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>
            <a:off x="1828800" y="2359152"/>
            <a:ext cx="0" cy="128016"/>
          </a:xfrm>
          <a:prstGeom prst="line">
            <a:avLst/>
          </a:prstGeom>
          <a:ln w="19050">
            <a:solidFill>
              <a:srgbClr val="C6A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>
            <a:off x="5076748" y="2359152"/>
            <a:ext cx="0" cy="128016"/>
          </a:xfrm>
          <a:prstGeom prst="line">
            <a:avLst/>
          </a:prstGeom>
          <a:ln w="19050">
            <a:solidFill>
              <a:srgbClr val="C6A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1" name="TextBox 520"/>
          <p:cNvSpPr txBox="1"/>
          <p:nvPr/>
        </p:nvSpPr>
        <p:spPr>
          <a:xfrm>
            <a:off x="1774667" y="2139696"/>
            <a:ext cx="3383279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24.00m 总宽</a:t>
            </a:r>
          </a:p>
        </p:txBody>
      </p:sp>
      <p:cxnSp>
        <p:nvCxnSpPr>
          <p:cNvPr id="522" name="Connector 521"/>
          <p:cNvCxnSpPr/>
          <p:nvPr/>
        </p:nvCxnSpPr>
        <p:spPr>
          <a:xfrm>
            <a:off x="1828800" y="8809695"/>
            <a:ext cx="3247948" cy="0"/>
          </a:xfrm>
          <a:prstGeom prst="line">
            <a:avLst/>
          </a:prstGeom>
          <a:ln w="19050">
            <a:solidFill>
              <a:srgbClr val="C6A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>
            <a:off x="1828800" y="8745687"/>
            <a:ext cx="0" cy="128016"/>
          </a:xfrm>
          <a:prstGeom prst="line">
            <a:avLst/>
          </a:prstGeom>
          <a:ln w="19050">
            <a:solidFill>
              <a:srgbClr val="C6A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>
            <a:off x="5076748" y="8745687"/>
            <a:ext cx="0" cy="128016"/>
          </a:xfrm>
          <a:prstGeom prst="line">
            <a:avLst/>
          </a:prstGeom>
          <a:ln w="19050">
            <a:solidFill>
              <a:srgbClr val="C6A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5" name="TextBox 524"/>
          <p:cNvSpPr txBox="1"/>
          <p:nvPr/>
        </p:nvSpPr>
        <p:spPr>
          <a:xfrm>
            <a:off x="1774667" y="8901135"/>
            <a:ext cx="3383279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spcAft>
                <a:spcPts val="800"/>
              </a:spcAft>
              <a:defRPr sz="9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1.50｜5.80｜1.80｜5.80｜1.80｜5.80｜1.50m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685800" y="5166360"/>
            <a:ext cx="960120" cy="19202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舞台</a:t>
            </a:r>
          </a:p>
          <a:p>
            <a:pPr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18.00m</a:t>
            </a:r>
          </a:p>
          <a:p>
            <a:pPr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观众区</a:t>
            </a:r>
          </a:p>
          <a:p>
            <a:pPr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24.80m</a:t>
            </a:r>
          </a:p>
        </p:txBody>
      </p:sp>
      <p:cxnSp>
        <p:nvCxnSpPr>
          <p:cNvPr id="527" name="Connector 526"/>
          <p:cNvCxnSpPr/>
          <p:nvPr/>
        </p:nvCxnSpPr>
        <p:spPr>
          <a:xfrm>
            <a:off x="5279745" y="2697480"/>
            <a:ext cx="0" cy="5792175"/>
          </a:xfrm>
          <a:prstGeom prst="line">
            <a:avLst/>
          </a:prstGeom>
          <a:ln w="19050">
            <a:solidFill>
              <a:srgbClr val="C6A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8" name="TextBox 527"/>
          <p:cNvSpPr txBox="1"/>
          <p:nvPr/>
        </p:nvSpPr>
        <p:spPr>
          <a:xfrm>
            <a:off x="5388010" y="4998110"/>
            <a:ext cx="1097280" cy="1005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总深</a:t>
            </a:r>
          </a:p>
          <a:p>
            <a:pPr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42.80m</a:t>
            </a:r>
          </a:p>
        </p:txBody>
      </p:sp>
      <p:sp>
        <p:nvSpPr>
          <p:cNvPr id="529" name="TextBox 528"/>
          <p:cNvSpPr txBox="1"/>
          <p:nvPr/>
        </p:nvSpPr>
        <p:spPr>
          <a:xfrm>
            <a:off x="7315200" y="2697480"/>
            <a:ext cx="98755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位置、容量与尺寸闭合</a:t>
            </a:r>
          </a:p>
        </p:txBody>
      </p:sp>
      <p:sp>
        <p:nvSpPr>
          <p:cNvPr id="530" name="TextBox 529"/>
          <p:cNvSpPr txBox="1"/>
          <p:nvPr/>
        </p:nvSpPr>
        <p:spPr>
          <a:xfrm>
            <a:off x="7315200" y="3429000"/>
            <a:ext cx="9875520" cy="40233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位置：座席区在舞台前方，中心与18m舞台轴线重合；不把观众通道作为演员常规出入口。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横向：3块×10席×0.58m＝17.40m；两条纵向通道各1.80m，两侧通道各1.50m，总宽24.00m。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纵向：16排×1.10m＋排间横通道1.40m＝19.00m；台前2.00m＋无障碍带1.40m＋后通道2.40m，共24.80m。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建议编排：480普通座位＋4轮椅位＋4陪同位＝488个观众位置。最终核定应按出口、视线和无障碍要求调整。</a:t>
            </a:r>
          </a:p>
        </p:txBody>
      </p:sp>
      <p:sp>
        <p:nvSpPr>
          <p:cNvPr id="531" name="Rectangle 530"/>
          <p:cNvSpPr/>
          <p:nvPr/>
        </p:nvSpPr>
        <p:spPr>
          <a:xfrm>
            <a:off x="7315200" y="7680960"/>
            <a:ext cx="9875520" cy="1005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TextBox 531"/>
          <p:cNvSpPr txBox="1"/>
          <p:nvPr/>
        </p:nvSpPr>
        <p:spPr>
          <a:xfrm>
            <a:off x="7543800" y="7818120"/>
            <a:ext cx="9418320" cy="8229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■ 金色：座位／陪同位　■ 青色：轮椅位／通道</a:t>
            </a:r>
          </a:p>
          <a:p>
            <a:pPr>
              <a:spcAft>
                <a:spcPts val="800"/>
              </a:spcAft>
              <a:defRPr sz="15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图中矩形为示意；18×18m取自原稿，其余均为设计建议。</a:t>
            </a:r>
          </a:p>
        </p:txBody>
      </p:sp>
      <p:cxnSp>
        <p:nvCxnSpPr>
          <p:cNvPr id="533" name="Connector 532"/>
          <p:cNvCxnSpPr/>
          <p:nvPr/>
        </p:nvCxnSpPr>
        <p:spPr>
          <a:xfrm>
            <a:off x="1828800" y="9235440"/>
            <a:ext cx="676656" cy="0"/>
          </a:xfrm>
          <a:prstGeom prst="line">
            <a:avLst/>
          </a:prstGeom>
          <a:ln w="38100">
            <a:solidFill>
              <a:srgbClr val="F1E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4" name="TextBox 533"/>
          <p:cNvSpPr txBox="1"/>
          <p:nvPr/>
        </p:nvSpPr>
        <p:spPr>
          <a:xfrm>
            <a:off x="2596896" y="9125712"/>
            <a:ext cx="9144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5m</a:t>
            </a:r>
          </a:p>
        </p:txBody>
      </p:sp>
      <p:sp>
        <p:nvSpPr>
          <p:cNvPr id="535" name="TextBox 534"/>
          <p:cNvSpPr txBox="1"/>
          <p:nvPr/>
        </p:nvSpPr>
        <p:spPr>
          <a:xfrm>
            <a:off x="16504920" y="9738360"/>
            <a:ext cx="100584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645920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ZONE A · SIGHTLINES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41832"/>
            <a:ext cx="16916400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A区｜座席视线与剖面控制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1682496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排距、起坡和舞台高差共同决定观看质量；以下为校核模型而非施工标高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9646920"/>
            <a:ext cx="16916400" cy="0"/>
          </a:xfrm>
          <a:prstGeom prst="line">
            <a:avLst/>
          </a:prstGeom>
          <a:ln w="6350">
            <a:solidFill>
              <a:srgbClr val="9FA5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84080"/>
            <a:ext cx="146304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魅力湘西 · 舞美设计深化｜新增尺寸、人数、时长均为方案建议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05840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建议剖面：舞台抬高 +0.80m，后区逐排起坡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7589520"/>
            <a:ext cx="9875520" cy="0"/>
          </a:xfrm>
          <a:prstGeom prst="line">
            <a:avLst/>
          </a:prstGeom>
          <a:ln w="19050">
            <a:solidFill>
              <a:srgbClr val="9FA5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097280" y="7370064"/>
            <a:ext cx="2011680" cy="219456"/>
          </a:xfrm>
          <a:prstGeom prst="rect">
            <a:avLst/>
          </a:prstGeom>
          <a:solidFill>
            <a:srgbClr val="283D36"/>
          </a:solidFill>
          <a:ln w="12700">
            <a:solidFill>
              <a:srgbClr val="63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7790688"/>
            <a:ext cx="25603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39C94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舞台 +0.80m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06624" y="7004304"/>
            <a:ext cx="73152" cy="73152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931920" y="7589520"/>
            <a:ext cx="320039" cy="0"/>
          </a:xfrm>
          <a:prstGeom prst="line">
            <a:avLst/>
          </a:prstGeom>
          <a:ln w="25400">
            <a:solidFill>
              <a:srgbClr val="C6A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041648" y="7479792"/>
            <a:ext cx="118872" cy="109728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41648" y="7246620"/>
            <a:ext cx="64008" cy="64008"/>
          </a:xfrm>
          <a:prstGeom prst="ellipse">
            <a:avLst/>
          </a:prstGeom>
          <a:solidFill>
            <a:srgbClr val="F1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2743200" y="7040880"/>
            <a:ext cx="1325880" cy="233172"/>
          </a:xfrm>
          <a:prstGeom prst="line">
            <a:avLst/>
          </a:prstGeom>
          <a:ln w="10160">
            <a:solidFill>
              <a:srgbClr val="639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325112" y="7589520"/>
            <a:ext cx="320039" cy="0"/>
          </a:xfrm>
          <a:prstGeom prst="line">
            <a:avLst/>
          </a:prstGeom>
          <a:ln w="25400">
            <a:solidFill>
              <a:srgbClr val="C6A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434840" y="7479792"/>
            <a:ext cx="118872" cy="109728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34840" y="7246620"/>
            <a:ext cx="64008" cy="64008"/>
          </a:xfrm>
          <a:prstGeom prst="ellipse">
            <a:avLst/>
          </a:prstGeom>
          <a:solidFill>
            <a:srgbClr val="F1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4718304" y="7589520"/>
            <a:ext cx="320040" cy="0"/>
          </a:xfrm>
          <a:prstGeom prst="line">
            <a:avLst/>
          </a:prstGeom>
          <a:ln w="25400">
            <a:solidFill>
              <a:srgbClr val="C6A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828032" y="7479792"/>
            <a:ext cx="118872" cy="109728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28032" y="7246620"/>
            <a:ext cx="64008" cy="64008"/>
          </a:xfrm>
          <a:prstGeom prst="ellipse">
            <a:avLst/>
          </a:prstGeom>
          <a:solidFill>
            <a:srgbClr val="F1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5111496" y="7589520"/>
            <a:ext cx="320040" cy="0"/>
          </a:xfrm>
          <a:prstGeom prst="line">
            <a:avLst/>
          </a:prstGeom>
          <a:ln w="25400">
            <a:solidFill>
              <a:srgbClr val="C6A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221224" y="7479792"/>
            <a:ext cx="118872" cy="109728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21224" y="7246620"/>
            <a:ext cx="64008" cy="64008"/>
          </a:xfrm>
          <a:prstGeom prst="ellipse">
            <a:avLst/>
          </a:prstGeom>
          <a:solidFill>
            <a:srgbClr val="F1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5504688" y="7548372"/>
            <a:ext cx="320039" cy="0"/>
          </a:xfrm>
          <a:prstGeom prst="line">
            <a:avLst/>
          </a:prstGeom>
          <a:ln w="25400">
            <a:solidFill>
              <a:srgbClr val="C6A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614416" y="7438644"/>
            <a:ext cx="118872" cy="109728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14416" y="7205472"/>
            <a:ext cx="64008" cy="64008"/>
          </a:xfrm>
          <a:prstGeom prst="ellipse">
            <a:avLst/>
          </a:prstGeom>
          <a:solidFill>
            <a:srgbClr val="F1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5897879" y="7507224"/>
            <a:ext cx="320040" cy="0"/>
          </a:xfrm>
          <a:prstGeom prst="line">
            <a:avLst/>
          </a:prstGeom>
          <a:ln w="25400">
            <a:solidFill>
              <a:srgbClr val="C6A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007607" y="7397496"/>
            <a:ext cx="118872" cy="109728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007607" y="7164324"/>
            <a:ext cx="64008" cy="64008"/>
          </a:xfrm>
          <a:prstGeom prst="ellipse">
            <a:avLst/>
          </a:prstGeom>
          <a:solidFill>
            <a:srgbClr val="F1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6291072" y="7466076"/>
            <a:ext cx="320040" cy="0"/>
          </a:xfrm>
          <a:prstGeom prst="line">
            <a:avLst/>
          </a:prstGeom>
          <a:ln w="25400">
            <a:solidFill>
              <a:srgbClr val="C6A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400800" y="7356348"/>
            <a:ext cx="118872" cy="109728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0800" y="7123176"/>
            <a:ext cx="64008" cy="64008"/>
          </a:xfrm>
          <a:prstGeom prst="ellipse">
            <a:avLst/>
          </a:prstGeom>
          <a:solidFill>
            <a:srgbClr val="F1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6684264" y="7424928"/>
            <a:ext cx="320039" cy="0"/>
          </a:xfrm>
          <a:prstGeom prst="line">
            <a:avLst/>
          </a:prstGeom>
          <a:ln w="25400">
            <a:solidFill>
              <a:srgbClr val="C6A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793992" y="7315200"/>
            <a:ext cx="118872" cy="109728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793992" y="7082028"/>
            <a:ext cx="64008" cy="64008"/>
          </a:xfrm>
          <a:prstGeom prst="ellipse">
            <a:avLst/>
          </a:prstGeom>
          <a:solidFill>
            <a:srgbClr val="F1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2743200" y="7040880"/>
            <a:ext cx="4078224" cy="68580"/>
          </a:xfrm>
          <a:prstGeom prst="line">
            <a:avLst/>
          </a:prstGeom>
          <a:ln w="10160">
            <a:solidFill>
              <a:srgbClr val="639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077456" y="7383780"/>
            <a:ext cx="320040" cy="0"/>
          </a:xfrm>
          <a:prstGeom prst="line">
            <a:avLst/>
          </a:prstGeom>
          <a:ln w="25400">
            <a:solidFill>
              <a:srgbClr val="C6A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7187184" y="7274052"/>
            <a:ext cx="118872" cy="109728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187184" y="7040880"/>
            <a:ext cx="64008" cy="64008"/>
          </a:xfrm>
          <a:prstGeom prst="ellipse">
            <a:avLst/>
          </a:prstGeom>
          <a:solidFill>
            <a:srgbClr val="F1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7470648" y="7342632"/>
            <a:ext cx="320040" cy="0"/>
          </a:xfrm>
          <a:prstGeom prst="line">
            <a:avLst/>
          </a:prstGeom>
          <a:ln w="25400">
            <a:solidFill>
              <a:srgbClr val="C6A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7580375" y="7232904"/>
            <a:ext cx="118872" cy="109728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580375" y="6999732"/>
            <a:ext cx="64008" cy="64008"/>
          </a:xfrm>
          <a:prstGeom prst="ellipse">
            <a:avLst/>
          </a:prstGeom>
          <a:solidFill>
            <a:srgbClr val="F1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7863840" y="7301484"/>
            <a:ext cx="320039" cy="0"/>
          </a:xfrm>
          <a:prstGeom prst="line">
            <a:avLst/>
          </a:prstGeom>
          <a:ln w="25400">
            <a:solidFill>
              <a:srgbClr val="C6A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7973567" y="7191756"/>
            <a:ext cx="118872" cy="109728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973567" y="6958584"/>
            <a:ext cx="64008" cy="64008"/>
          </a:xfrm>
          <a:prstGeom prst="ellipse">
            <a:avLst/>
          </a:prstGeom>
          <a:solidFill>
            <a:srgbClr val="F1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8257031" y="7260336"/>
            <a:ext cx="320041" cy="0"/>
          </a:xfrm>
          <a:prstGeom prst="line">
            <a:avLst/>
          </a:prstGeom>
          <a:ln w="25400">
            <a:solidFill>
              <a:srgbClr val="C6A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8366759" y="7150608"/>
            <a:ext cx="118872" cy="109728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366759" y="6917436"/>
            <a:ext cx="64008" cy="64008"/>
          </a:xfrm>
          <a:prstGeom prst="ellipse">
            <a:avLst/>
          </a:prstGeom>
          <a:solidFill>
            <a:srgbClr val="F1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8650224" y="7219188"/>
            <a:ext cx="320040" cy="0"/>
          </a:xfrm>
          <a:prstGeom prst="line">
            <a:avLst/>
          </a:prstGeom>
          <a:ln w="25400">
            <a:solidFill>
              <a:srgbClr val="C6A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8759952" y="7109460"/>
            <a:ext cx="118872" cy="109728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759952" y="6876288"/>
            <a:ext cx="64008" cy="64008"/>
          </a:xfrm>
          <a:prstGeom prst="ellipse">
            <a:avLst/>
          </a:prstGeom>
          <a:solidFill>
            <a:srgbClr val="F1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9043416" y="7178040"/>
            <a:ext cx="320040" cy="0"/>
          </a:xfrm>
          <a:prstGeom prst="line">
            <a:avLst/>
          </a:prstGeom>
          <a:ln w="25400">
            <a:solidFill>
              <a:srgbClr val="C6A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9153144" y="7068312"/>
            <a:ext cx="118872" cy="109728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153144" y="6835140"/>
            <a:ext cx="64008" cy="64008"/>
          </a:xfrm>
          <a:prstGeom prst="ellipse">
            <a:avLst/>
          </a:prstGeom>
          <a:solidFill>
            <a:srgbClr val="F1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9436608" y="7136892"/>
            <a:ext cx="320040" cy="0"/>
          </a:xfrm>
          <a:prstGeom prst="line">
            <a:avLst/>
          </a:prstGeom>
          <a:ln w="25400">
            <a:solidFill>
              <a:srgbClr val="C6A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9546336" y="7027164"/>
            <a:ext cx="118872" cy="109728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546336" y="6793992"/>
            <a:ext cx="64008" cy="64008"/>
          </a:xfrm>
          <a:prstGeom prst="ellipse">
            <a:avLst/>
          </a:prstGeom>
          <a:solidFill>
            <a:srgbClr val="F1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9829800" y="7095744"/>
            <a:ext cx="320040" cy="0"/>
          </a:xfrm>
          <a:prstGeom prst="line">
            <a:avLst/>
          </a:prstGeom>
          <a:ln w="25400">
            <a:solidFill>
              <a:srgbClr val="C6A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9939528" y="6986016"/>
            <a:ext cx="118872" cy="109728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939528" y="6752844"/>
            <a:ext cx="64008" cy="64008"/>
          </a:xfrm>
          <a:prstGeom prst="ellipse">
            <a:avLst/>
          </a:prstGeom>
          <a:solidFill>
            <a:srgbClr val="F1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 flipV="1">
            <a:off x="2743200" y="6780276"/>
            <a:ext cx="7223760" cy="260604"/>
          </a:xfrm>
          <a:prstGeom prst="line">
            <a:avLst/>
          </a:prstGeom>
          <a:ln w="10160">
            <a:solidFill>
              <a:srgbClr val="639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840480" y="7818120"/>
            <a:ext cx="621792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前4排平段 → 第5排起，每排暂按150mm抬升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0120" y="3337560"/>
            <a:ext cx="9509760" cy="21945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首排至台口距离按约3.4m起算；座椅中心排距1.10m。</a:t>
            </a:r>
          </a:p>
          <a:p>
            <a:pPr>
              <a:spcAft>
                <a:spcPts val="800"/>
              </a:spcAft>
              <a:defRPr sz="22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座席高差用于检验视线，不直接确定楼梯踏步。</a:t>
            </a:r>
          </a:p>
          <a:p>
            <a:pPr>
              <a:spcAft>
                <a:spcPts val="800"/>
              </a:spcAft>
              <a:defRPr sz="22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后排最高暂约+1.80m；侧向视线还需避开山体、楼柱、扶手与灯架。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338560" y="2606040"/>
            <a:ext cx="6217920" cy="644652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658600" y="2880360"/>
            <a:ext cx="557784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必须补做的视线校核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658600" y="3657600"/>
            <a:ext cx="5577840" cy="5120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1　分别取台口地面动作、中央平台人物、二层闺房三个观察目标。</a:t>
            </a:r>
          </a:p>
          <a:p>
            <a:pPr>
              <a:spcAft>
                <a:spcPts val="800"/>
              </a:spcAft>
              <a:defRPr sz="19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2　以坐姿眼高约1.15m作为计算假设，建议以C值约90mm作初筛，最终依据适用规范与模型核定。</a:t>
            </a:r>
          </a:p>
          <a:p>
            <a:pPr>
              <a:spcAft>
                <a:spcPts val="800"/>
              </a:spcAft>
              <a:defRPr sz="19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3　校核前后排头部遮挡和最外侧座位偏角；不合格座位应移动或核减。</a:t>
            </a:r>
          </a:p>
          <a:p>
            <a:pPr>
              <a:spcAft>
                <a:spcPts val="800"/>
              </a:spcAft>
              <a:defRPr sz="19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4　轮椅位保持前区同层可达；无障碍带与横通道分开，不以临时搬椅替代。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9098280"/>
            <a:ext cx="16642080" cy="38404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剖面为原理示意，横纵向示意比例不同；地坪、结构、楼梯及无障碍路线须结合实测深化。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504920" y="9738360"/>
            <a:ext cx="100584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645920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ZONE A ·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41832"/>
            <a:ext cx="16916400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A区｜座席与进出场细节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1682496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把观演舒适、舞台调度和日常维护纳入同一平面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9646920"/>
            <a:ext cx="16916400" cy="0"/>
          </a:xfrm>
          <a:prstGeom prst="line">
            <a:avLst/>
          </a:prstGeom>
          <a:ln w="6350">
            <a:solidFill>
              <a:srgbClr val="9FA5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84080"/>
            <a:ext cx="146304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魅力湘西 · 舞美设计深化｜新增尺寸、人数、时长均为方案建议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560320"/>
            <a:ext cx="5425440" cy="658368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34640"/>
            <a:ext cx="4876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座席与无障碍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57600"/>
            <a:ext cx="4876800" cy="5120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座宽建议0.58m、排距1.10m，优先采用翻折椅以减少起身阻挡。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轮椅位建议净0.90×1.40m，配同伴位；前区同层接侧通道。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座号按左／中／右三块管理；无障碍区不设电缆跨线或临时道具。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31280" y="2560320"/>
            <a:ext cx="5425440" cy="658368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5600" y="2834640"/>
            <a:ext cx="4876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入口与疏散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3657600"/>
            <a:ext cx="4876800" cy="5120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常规入场从后部集散区进入，沿两侧及两条纵向通道找位。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左右侧连接既有疏散出口；图中通道建议宽度不能直接推导合规人数。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出口数量、净宽、距离、门开启方向与应急照明需专项核定。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76760" y="2560320"/>
            <a:ext cx="5425440" cy="658368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51080" y="2834640"/>
            <a:ext cx="4876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视听与运营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51080" y="3657600"/>
            <a:ext cx="4876800" cy="5120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调音及追光控制位优先置后部独立机位，不占2.40m集散通道。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声场分区延时补声，测试首排与末排清晰度；避免音箱遮挡侧座。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演出前检查折椅、栏杆、台阶提示及通道照明；屋顶／圆台动作须联锁。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4920" y="9738360"/>
            <a:ext cx="100584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645920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DESIGN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41832"/>
            <a:ext cx="16916400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A区｜一景多用的装置状态表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1682496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固定山体不换景，节目依靠装置姿态、演员落点和光声关系转换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9646920"/>
            <a:ext cx="16916400" cy="0"/>
          </a:xfrm>
          <a:prstGeom prst="line">
            <a:avLst/>
          </a:prstGeom>
          <a:ln w="6350">
            <a:solidFill>
              <a:srgbClr val="9FA5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84080"/>
            <a:ext cx="146304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魅力湘西 · 舞美设计深化｜新增尺寸、人数、时长均为方案建议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560320"/>
            <a:ext cx="2743200" cy="1060704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97479"/>
            <a:ext cx="246888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D1110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节目组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2560320"/>
            <a:ext cx="5486400" cy="1060704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697479"/>
            <a:ext cx="521208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D1110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固定／可变状态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15400" y="2560320"/>
            <a:ext cx="3749039" cy="1060704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2697479"/>
            <a:ext cx="347472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D1110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重点支点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664440" y="2560320"/>
            <a:ext cx="4937760" cy="1060704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0" y="2697479"/>
            <a:ext cx="466344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D1110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转换动作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621024"/>
            <a:ext cx="2743200" cy="1060704"/>
          </a:xfrm>
          <a:prstGeom prst="rect">
            <a:avLst/>
          </a:prstGeom>
          <a:solidFill>
            <a:srgbClr val="18211F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39896"/>
            <a:ext cx="246888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01–02 原始／牧耕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3621024"/>
            <a:ext cx="5486400" cy="1060704"/>
          </a:xfrm>
          <a:prstGeom prst="rect">
            <a:avLst/>
          </a:prstGeom>
          <a:solidFill>
            <a:srgbClr val="18211F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3739896"/>
            <a:ext cx="521208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山体固定；屋顶保持高位；中央动作面打开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3621024"/>
            <a:ext cx="3749039" cy="1060704"/>
          </a:xfrm>
          <a:prstGeom prst="rect">
            <a:avLst/>
          </a:prstGeom>
          <a:solidFill>
            <a:srgbClr val="18211F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3739896"/>
            <a:ext cx="347472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土坡、铃具、木构平台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64440" y="3621024"/>
            <a:ext cx="4937760" cy="1060704"/>
          </a:xfrm>
          <a:prstGeom prst="rect">
            <a:avLst/>
          </a:prstGeom>
          <a:solidFill>
            <a:srgbClr val="18211F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0" y="3739896"/>
            <a:ext cx="466344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铃声接入节拍；小道具随演员带入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681727"/>
            <a:ext cx="2743200" cy="1060704"/>
          </a:xfrm>
          <a:prstGeom prst="rect">
            <a:avLst/>
          </a:prstGeom>
          <a:solidFill>
            <a:srgbClr val="0D1110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800599"/>
            <a:ext cx="246888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03–04 爱情／守候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4681727"/>
            <a:ext cx="5486400" cy="1060704"/>
          </a:xfrm>
          <a:prstGeom prst="rect">
            <a:avLst/>
          </a:prstGeom>
          <a:solidFill>
            <a:srgbClr val="0D1110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4800599"/>
            <a:ext cx="521208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屋顶落至中位；侧台形成河岸／树下；圆台锁定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15400" y="4681727"/>
            <a:ext cx="3749039" cy="1060704"/>
          </a:xfrm>
          <a:prstGeom prst="rect">
            <a:avLst/>
          </a:prstGeom>
          <a:solidFill>
            <a:srgbClr val="0D1110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4800599"/>
            <a:ext cx="347472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渡口、栏杆、信物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664440" y="4681727"/>
            <a:ext cx="4937760" cy="1060704"/>
          </a:xfrm>
          <a:prstGeom prst="rect">
            <a:avLst/>
          </a:prstGeom>
          <a:solidFill>
            <a:srgbClr val="0D1110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0" y="4800599"/>
            <a:ext cx="466344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用侧光切出双空间；撤船形轻道具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742431"/>
            <a:ext cx="2743200" cy="1060704"/>
          </a:xfrm>
          <a:prstGeom prst="rect">
            <a:avLst/>
          </a:prstGeom>
          <a:solidFill>
            <a:srgbClr val="18211F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861303"/>
            <a:ext cx="246888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05 女儿会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29000" y="5742431"/>
            <a:ext cx="5486400" cy="1060704"/>
          </a:xfrm>
          <a:prstGeom prst="rect">
            <a:avLst/>
          </a:prstGeom>
          <a:solidFill>
            <a:srgbClr val="18211F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5861303"/>
            <a:ext cx="521208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楼梯靠侧；前区展开集市，中心留对唱面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15400" y="5742431"/>
            <a:ext cx="3749039" cy="1060704"/>
          </a:xfrm>
          <a:prstGeom prst="rect">
            <a:avLst/>
          </a:prstGeom>
          <a:solidFill>
            <a:srgbClr val="18211F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5861303"/>
            <a:ext cx="347472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织锦摊位、路口、手帕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664440" y="5742431"/>
            <a:ext cx="4937760" cy="1060704"/>
          </a:xfrm>
          <a:prstGeom prst="rect">
            <a:avLst/>
          </a:prstGeom>
          <a:solidFill>
            <a:srgbClr val="18211F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0" y="5861303"/>
            <a:ext cx="466344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演员完成移台；观众视线内有表演掩护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6803136"/>
            <a:ext cx="2743200" cy="1060704"/>
          </a:xfrm>
          <a:prstGeom prst="rect">
            <a:avLst/>
          </a:prstGeom>
          <a:solidFill>
            <a:srgbClr val="0D1110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6922007"/>
            <a:ext cx="246888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06 哭嫁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29000" y="6803136"/>
            <a:ext cx="5486400" cy="1060704"/>
          </a:xfrm>
          <a:prstGeom prst="rect">
            <a:avLst/>
          </a:prstGeom>
          <a:solidFill>
            <a:srgbClr val="0D1110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66160" y="6922007"/>
            <a:ext cx="521208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闺房可见；门槛与中央平台成为情绪焦点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15400" y="6803136"/>
            <a:ext cx="3749039" cy="1060704"/>
          </a:xfrm>
          <a:prstGeom prst="rect">
            <a:avLst/>
          </a:prstGeom>
          <a:solidFill>
            <a:srgbClr val="0D1110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0" y="6922007"/>
            <a:ext cx="347472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木梳、母女距离、跨门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664440" y="6803136"/>
            <a:ext cx="4937760" cy="1060704"/>
          </a:xfrm>
          <a:prstGeom prst="rect">
            <a:avLst/>
          </a:prstGeom>
          <a:solidFill>
            <a:srgbClr val="0D1110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801600" y="6922007"/>
            <a:ext cx="466344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落暖光；迎亲鼓乐接至告别动作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" y="7863840"/>
            <a:ext cx="2743200" cy="1060704"/>
          </a:xfrm>
          <a:prstGeom prst="rect">
            <a:avLst/>
          </a:prstGeom>
          <a:solidFill>
            <a:srgbClr val="18211F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7982712"/>
            <a:ext cx="246888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07 归乡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29000" y="7863840"/>
            <a:ext cx="5486400" cy="1060704"/>
          </a:xfrm>
          <a:prstGeom prst="rect">
            <a:avLst/>
          </a:prstGeom>
          <a:solidFill>
            <a:srgbClr val="18211F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66160" y="7982712"/>
            <a:ext cx="521208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屋顶高位形成山门；两梯靠侧；中央留纵深路径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15400" y="7863840"/>
            <a:ext cx="3749039" cy="1060704"/>
          </a:xfrm>
          <a:prstGeom prst="rect">
            <a:avLst/>
          </a:prstGeom>
          <a:solidFill>
            <a:srgbClr val="18211F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52560" y="7982712"/>
            <a:ext cx="347472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引路灯、信物、石碑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664440" y="7863840"/>
            <a:ext cx="4937760" cy="1060704"/>
          </a:xfrm>
          <a:prstGeom prst="rect">
            <a:avLst/>
          </a:prstGeom>
          <a:solidFill>
            <a:srgbClr val="18211F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801600" y="7982712"/>
            <a:ext cx="466344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灯影转冷；演员清场后执行机械变化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504920" y="9738360"/>
            <a:ext cx="100584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645920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ZONE B · FUNCTIONAL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41832"/>
            <a:ext cx="16916400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B区｜动作面、观看带与巡游出口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1682496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保留原稿30m横向规模；补充18m进深及约40×32m组织范围，均为设计建议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9646920"/>
            <a:ext cx="16916400" cy="0"/>
          </a:xfrm>
          <a:prstGeom prst="line">
            <a:avLst/>
          </a:prstGeom>
          <a:ln w="6350">
            <a:solidFill>
              <a:srgbClr val="9FA5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84080"/>
            <a:ext cx="146304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魅力湘西 · 舞美设计深化｜新增尺寸、人数、时长均为方案建议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2788920"/>
            <a:ext cx="6400800" cy="5120640"/>
          </a:xfrm>
          <a:prstGeom prst="rect">
            <a:avLst/>
          </a:prstGeom>
          <a:solidFill>
            <a:srgbClr val="18211F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51660" y="2948939"/>
            <a:ext cx="4800600" cy="480059"/>
          </a:xfrm>
          <a:prstGeom prst="rect">
            <a:avLst/>
          </a:prstGeom>
          <a:solidFill>
            <a:srgbClr val="322D23"/>
          </a:solidFill>
          <a:ln w="12700">
            <a:solidFill>
              <a:srgbClr val="C6A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3028950"/>
            <a:ext cx="3840479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后场服务带 / 低鼓台 / 灯架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51660" y="3429000"/>
            <a:ext cx="4800600" cy="2880360"/>
          </a:xfrm>
          <a:prstGeom prst="rect">
            <a:avLst/>
          </a:prstGeom>
          <a:solidFill>
            <a:srgbClr val="283D36"/>
          </a:solidFill>
          <a:ln w="12700">
            <a:solidFill>
              <a:srgbClr val="63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71700" y="4549140"/>
            <a:ext cx="4160520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核心动作面</a:t>
            </a:r>
          </a:p>
          <a:p>
            <a:pPr algn="ctr">
              <a:spcAft>
                <a:spcPts val="800"/>
              </a:spcAft>
              <a:defRPr sz="2200" b="1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30×18m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1660" y="6309359"/>
            <a:ext cx="4800600" cy="320040"/>
          </a:xfrm>
          <a:prstGeom prst="rect">
            <a:avLst/>
          </a:prstGeom>
          <a:solidFill>
            <a:srgbClr val="33372E"/>
          </a:solidFill>
          <a:ln w="12700">
            <a:solidFill>
              <a:srgbClr val="C6A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6357366"/>
            <a:ext cx="32004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2m缓冲带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51660" y="6629399"/>
            <a:ext cx="4800600" cy="640080"/>
          </a:xfrm>
          <a:prstGeom prst="rect">
            <a:avLst/>
          </a:prstGeom>
          <a:solidFill>
            <a:srgbClr val="3B3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1739" y="6789420"/>
            <a:ext cx="3520439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前方4m观看带（常态）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7269479"/>
            <a:ext cx="6400800" cy="640080"/>
          </a:xfrm>
          <a:prstGeom prst="rect">
            <a:avLst/>
          </a:prstGeom>
          <a:solidFill>
            <a:srgbClr val="294038"/>
          </a:solidFill>
          <a:ln w="12700">
            <a:solidFill>
              <a:srgbClr val="63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39" y="7429500"/>
            <a:ext cx="5120640" cy="4114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4m转换通道 → 分批进入C区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3429000"/>
            <a:ext cx="640080" cy="3840479"/>
          </a:xfrm>
          <a:prstGeom prst="rect">
            <a:avLst/>
          </a:prstGeom>
          <a:solidFill>
            <a:srgbClr val="294038"/>
          </a:solidFill>
          <a:ln w="12700">
            <a:solidFill>
              <a:srgbClr val="63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572" y="4549140"/>
            <a:ext cx="548640" cy="18288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639C94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巡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639C94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游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639C94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通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639C94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79" y="3429000"/>
            <a:ext cx="640080" cy="3840479"/>
          </a:xfrm>
          <a:prstGeom prst="rect">
            <a:avLst/>
          </a:prstGeom>
          <a:solidFill>
            <a:srgbClr val="322D23"/>
          </a:solidFill>
          <a:ln w="12700">
            <a:solidFill>
              <a:srgbClr val="C6A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92290" y="4549140"/>
            <a:ext cx="548640" cy="18288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演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员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服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8229600"/>
            <a:ext cx="649224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40m × 32m 外框示意；不代表现状院落边界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697480"/>
            <a:ext cx="923544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从“视觉奇观”补充为可运行的外场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474720"/>
            <a:ext cx="9235440" cy="53949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动作面：仗鼓舞集中在30×18m；龙灯先在核心完成盘旋，再沿左侧4m通道离场。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观看组织：正面为主；两侧仅在服务带之外留观看口袋，不做完整三面包围。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视线：低鼓台高度建议0.6–0.9m；垂直灯架是背景装置，不能挡住人物与龙灯路线。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容量：正面示意观看带30×4m＝120㎡；可先按约120人试排，不等同核定容量。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转场：B区节目完成后，引导员按分块放行；不得把A区全部观众直接挤入这一观看带。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9098280"/>
            <a:ext cx="16642080" cy="38404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若按A区488人整批运营，应扩大观看净面积、减少单批人数或调整场次；最终依现场净面积与通道核定。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504920" y="9738360"/>
            <a:ext cx="100584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645920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ZONE B ·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41832"/>
            <a:ext cx="16916400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B区｜技术、天气与转场运营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1682496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补齐露天演出的供电、音响、雨天方案和人群组织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9646920"/>
            <a:ext cx="16916400" cy="0"/>
          </a:xfrm>
          <a:prstGeom prst="line">
            <a:avLst/>
          </a:prstGeom>
          <a:ln w="6350">
            <a:solidFill>
              <a:srgbClr val="9FA5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84080"/>
            <a:ext cx="146304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魅力湘西 · 舞美设计深化｜新增尺寸、人数、时长均为方案建议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560320"/>
            <a:ext cx="5425440" cy="658368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34640"/>
            <a:ext cx="4876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技术布置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57600"/>
            <a:ext cx="4876800" cy="5120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灯架设在后侧与两边服务区；光束避开观众眼平线，人物面光优先。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前区补声与后区鼓乐分路混音，延时依据实测距离校准。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电源、控制与信号线走后场或护线槽；设备采用适用的防雨保护与接地。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31280" y="2560320"/>
            <a:ext cx="5425440" cy="658368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5600" y="2834640"/>
            <a:ext cx="4876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装置与天气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3657600"/>
            <a:ext cx="4876800" cy="5120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优先地面群舞与低鼓台；原稿“垂直绝技”仅作为远期意向，需单独结构及表演条件审核。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设防滑检查、灯架锚固和雨前断电流程。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风雨阈值按设备说明与现场预案确定；不编造通用停演数值。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76760" y="2560320"/>
            <a:ext cx="5425440" cy="658368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51080" y="2834640"/>
            <a:ext cx="4876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运行与转换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51080" y="3657600"/>
            <a:ext cx="4876800" cy="5120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A区结束→分块离场→B区观看→巡游先行→观众转换→C区接应。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通道口安排放行与接应人员，所有消息由舞台监督统一调度。分块放行只改善通行，不扩大B区容纳能力。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雨天替代：仅保留具备室内条件的节选；若未核定替代空间则暂停外场。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4920" y="9738360"/>
            <a:ext cx="100584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645920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ZONE C · FUNCTIONAL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41832"/>
            <a:ext cx="16916400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C区｜60×40m庆典广场平面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1682496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明确表演核心、互动圈、观看带、巡游线与出入口，避免整块广场混用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9646920"/>
            <a:ext cx="16916400" cy="0"/>
          </a:xfrm>
          <a:prstGeom prst="line">
            <a:avLst/>
          </a:prstGeom>
          <a:ln w="6350">
            <a:solidFill>
              <a:srgbClr val="9FA5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84080"/>
            <a:ext cx="146304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魅力湘西 · 舞美设计深化｜新增尺寸、人数、时长均为方案建议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200400"/>
            <a:ext cx="7955279" cy="5303520"/>
          </a:xfrm>
          <a:prstGeom prst="rect">
            <a:avLst/>
          </a:prstGeom>
          <a:solidFill>
            <a:srgbClr val="18211F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92324" y="3598164"/>
            <a:ext cx="4507992" cy="4507992"/>
          </a:xfrm>
          <a:prstGeom prst="ellipse">
            <a:avLst/>
          </a:prstGeom>
          <a:solidFill>
            <a:srgbClr val="332E23"/>
          </a:solidFill>
          <a:ln w="12700">
            <a:solidFill>
              <a:srgbClr val="C6A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57500" y="3863339"/>
            <a:ext cx="3977639" cy="3977639"/>
          </a:xfrm>
          <a:prstGeom prst="ellipse">
            <a:avLst/>
          </a:prstGeom>
          <a:solidFill>
            <a:srgbClr val="263B34"/>
          </a:solidFill>
          <a:ln w="12700">
            <a:solidFill>
              <a:srgbClr val="63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85615" y="4791456"/>
            <a:ext cx="2121408" cy="2121408"/>
          </a:xfrm>
          <a:prstGeom prst="ellipse">
            <a:avLst/>
          </a:prstGeom>
          <a:solidFill>
            <a:srgbClr val="3C5144"/>
          </a:solidFill>
          <a:ln w="12700">
            <a:solidFill>
              <a:srgbClr val="63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18204" y="5454396"/>
            <a:ext cx="1856231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核心 Ø16m</a:t>
            </a:r>
          </a:p>
          <a:p>
            <a:pPr algn="ctr">
              <a:spcAft>
                <a:spcPts val="800"/>
              </a:spcAft>
              <a:defRPr sz="1600" b="1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演员表演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39" y="3995928"/>
            <a:ext cx="265176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639C94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互动环 Ø16–30m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5263" y="7708392"/>
            <a:ext cx="3182111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外围观看带 / 自愿退出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653277"/>
            <a:ext cx="2916936" cy="397763"/>
          </a:xfrm>
          <a:prstGeom prst="rect">
            <a:avLst/>
          </a:prstGeom>
          <a:solidFill>
            <a:srgbClr val="294038"/>
          </a:solidFill>
          <a:ln w="12700">
            <a:solidFill>
              <a:srgbClr val="63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07024" y="5653277"/>
            <a:ext cx="2916936" cy="397763"/>
          </a:xfrm>
          <a:prstGeom prst="rect">
            <a:avLst/>
          </a:prstGeom>
          <a:solidFill>
            <a:srgbClr val="294038"/>
          </a:solidFill>
          <a:ln w="12700">
            <a:solidFill>
              <a:srgbClr val="63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5693054"/>
            <a:ext cx="2386584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3m开放通道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4788" y="5693054"/>
            <a:ext cx="2253996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3m开放通道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200400"/>
            <a:ext cx="530352" cy="5303520"/>
          </a:xfrm>
          <a:prstGeom prst="rect">
            <a:avLst/>
          </a:prstGeom>
          <a:solidFill>
            <a:srgbClr val="263B34"/>
          </a:solidFill>
          <a:ln w="12700">
            <a:solidFill>
              <a:srgbClr val="63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974" y="3863339"/>
            <a:ext cx="548640" cy="21945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639C94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4</a:t>
            </a:r>
          </a:p>
          <a:p>
            <a:pPr algn="ctr">
              <a:spcAft>
                <a:spcPts val="800"/>
              </a:spcAft>
              <a:defRPr sz="1200" b="0">
                <a:solidFill>
                  <a:srgbClr val="639C94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m</a:t>
            </a:r>
          </a:p>
          <a:p>
            <a:pPr algn="ctr">
              <a:spcAft>
                <a:spcPts val="800"/>
              </a:spcAft>
              <a:defRPr sz="1200" b="0">
                <a:solidFill>
                  <a:srgbClr val="639C94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巡</a:t>
            </a:r>
          </a:p>
          <a:p>
            <a:pPr algn="ctr">
              <a:spcAft>
                <a:spcPts val="800"/>
              </a:spcAft>
              <a:defRPr sz="1200" b="0">
                <a:solidFill>
                  <a:srgbClr val="639C94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游</a:t>
            </a:r>
          </a:p>
          <a:p>
            <a:pPr algn="ctr">
              <a:spcAft>
                <a:spcPts val="800"/>
              </a:spcAft>
              <a:defRPr sz="1200" b="0">
                <a:solidFill>
                  <a:srgbClr val="639C94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64207" y="3332988"/>
            <a:ext cx="1591055" cy="397763"/>
          </a:xfrm>
          <a:prstGeom prst="rect">
            <a:avLst/>
          </a:prstGeom>
          <a:solidFill>
            <a:srgbClr val="322D23"/>
          </a:solidFill>
          <a:ln w="12700">
            <a:solidFill>
              <a:srgbClr val="C6A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64207" y="3372764"/>
            <a:ext cx="1591055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B区接入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02552" y="3465576"/>
            <a:ext cx="1591055" cy="662940"/>
          </a:xfrm>
          <a:prstGeom prst="rect">
            <a:avLst/>
          </a:prstGeom>
          <a:solidFill>
            <a:srgbClr val="322D23"/>
          </a:solidFill>
          <a:ln w="12700">
            <a:solidFill>
              <a:srgbClr val="C6A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02552" y="3598164"/>
            <a:ext cx="1591055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后勤／临时休息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96795" y="8106155"/>
            <a:ext cx="1458468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南侧出口（原稿）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8106155"/>
            <a:ext cx="2253996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正面游客入口（原稿）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6195" y="4791456"/>
            <a:ext cx="457200" cy="24688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B97663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溪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B97663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流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B97663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边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B97663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界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B97663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禁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B97663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2697480"/>
            <a:ext cx="7863840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60.00m × 40.00m｜相对方位示意，非测绘底图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2697480"/>
            <a:ext cx="786384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观看与互动按净面积分别管理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3566160"/>
            <a:ext cx="7863840" cy="5303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核心：直径16m，约201㎡，用于高花灯和狮舞的正面展示。</a:t>
            </a: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互动环：外径30m、内径16m，理论环面积约506㎡；须扣除两条开放通道与装置。</a:t>
            </a: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观看带：30–34m直径环形作为候选范围，实际可用区域应避开巡游与出口。</a:t>
            </a: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人数：建议先以≤80名观众试排互动；外围分区观看，不能以2400㎡总面积直接计算容量。</a:t>
            </a: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溪流：只作环境边界；禁入标识、实体防护及低位照明，不安排跨水疏散。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9098280"/>
            <a:ext cx="16642080" cy="38404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入口方位沿用原稿文字，相对位置仅作方案表达；最终出口净宽、路线和临水边界须按实测调整。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504920" y="9738360"/>
            <a:ext cx="100584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645920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ZONE C · PARTICIPATION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41832"/>
            <a:ext cx="16916400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C区｜互动规则与公共服务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1682496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让庆典可以参与，也可以舒适地旁观、退出与散场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9646920"/>
            <a:ext cx="16916400" cy="0"/>
          </a:xfrm>
          <a:prstGeom prst="line">
            <a:avLst/>
          </a:prstGeom>
          <a:ln w="6350">
            <a:solidFill>
              <a:srgbClr val="9FA5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84080"/>
            <a:ext cx="146304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魅力湘西 · 舞美设计深化｜新增尺寸、人数、时长均为方案建议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560320"/>
            <a:ext cx="5425440" cy="658368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34640"/>
            <a:ext cx="4876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参与机制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57600"/>
            <a:ext cx="4876800" cy="5120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第一段：演员示范，观众停留观看带。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第二段：分区邀请、自愿加入外圈，建议首轮≤80人。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第三段：合圈时保持两条3m开放通道。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退出即沿通道回观看带；轮椅、儿童和长者可在近入口的平坦区体验。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31280" y="2560320"/>
            <a:ext cx="5425440" cy="658368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5600" y="2834640"/>
            <a:ext cx="4876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公共服务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3657600"/>
            <a:ext cx="4876800" cy="5120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近入口设导引点、集合点和临时休息区；急救与失散儿童处置位置由场地运营确认。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高花灯停驻点与狮队候场分开；饮水、回收和设备区放在环外。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灯光保证人脸、脚下和出口可见，不能只强调火光气氛。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76760" y="2560320"/>
            <a:ext cx="5425440" cy="658368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51080" y="2834640"/>
            <a:ext cx="4876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终场与维护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51080" y="3657600"/>
            <a:ext cx="4876800" cy="5120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火焰意象改用LED灯、投影与暖色动态光，不默认引入明火。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锣鼓结束后切散场广播与基础照明；演员沿巡游线退场，观众沿原稿出口方向离场。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工作人员检查临水边界、地面防滑与遗留物，保持出口连续可用。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4920" y="9738360"/>
            <a:ext cx="100584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645920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ZONE B · CAPACITY 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41832"/>
            <a:ext cx="16916400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B区容量衔接｜两种运营模式与选择条件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1682496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分块放行只能改善通行；不能用它解决488人同时观看与120人观看带的差额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9646920"/>
            <a:ext cx="16916400" cy="0"/>
          </a:xfrm>
          <a:prstGeom prst="line">
            <a:avLst/>
          </a:prstGeom>
          <a:ln w="6350">
            <a:solidFill>
              <a:srgbClr val="9FA5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84080"/>
            <a:ext cx="146304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魅力湘西 · 舞美设计深化｜新增尺寸、人数、时长均为方案建议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560320"/>
            <a:ext cx="5425440" cy="658368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34640"/>
            <a:ext cx="4876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模式一｜小批次完整体验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57600"/>
            <a:ext cx="4876800" cy="5120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本次40×32m外场示意优先用于约120人单批试排。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A区保留480席编排，但当前运营人数受B区观看净面积限制；可将小批次集中在中前区。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同一批依次观看A→B→C，约58min节目净时长，转场另计。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31280" y="2560320"/>
            <a:ext cx="5425440" cy="658368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5600" y="2834640"/>
            <a:ext cx="4876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模式二｜整批488人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3657600"/>
            <a:ext cx="4876800" cy="5120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若希望所有A区观众连续完整观看B段，需要扩展B区观看净面积。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按约1人/㎡仅作方案估算，观看净面积应至少约488㎡；通道、缓冲、设备和不可用边角另计。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还需检查深排视线、出口与声场；现有120㎡观看带不能满足。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76760" y="2560320"/>
            <a:ext cx="5425440" cy="658368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51080" y="2834640"/>
            <a:ext cx="4876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选择与后续验证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51080" y="3657600"/>
            <a:ext cx="4876800" cy="5120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先测量院落净范围，再决定扩大B区或降低单场人数。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若采用多批重复B段，必须额外安排候场区、重复演出和C区接应；此时总体验时长不再按58min计算。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本次不把未测绘的候场区视为已经落实。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4920" y="9738360"/>
            <a:ext cx="100584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645920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DESIGN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41832"/>
            <a:ext cx="16916400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三区衔接｜把节目单变成连续体验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1682496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建议单批节目净时长约58min；转场、重复场次及分批等待另计，非既有时长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9646920"/>
            <a:ext cx="16916400" cy="0"/>
          </a:xfrm>
          <a:prstGeom prst="line">
            <a:avLst/>
          </a:prstGeom>
          <a:ln w="6350">
            <a:solidFill>
              <a:srgbClr val="9FA5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84080"/>
            <a:ext cx="146304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魅力湘西 · 舞美设计深化｜新增尺寸、人数、时长均为方案建议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560320"/>
            <a:ext cx="3200400" cy="1060704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97479"/>
            <a:ext cx="292608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D1110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阶段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2560320"/>
            <a:ext cx="3840480" cy="1060704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2697479"/>
            <a:ext cx="356616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D1110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触发信号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79" y="2560320"/>
            <a:ext cx="5577840" cy="1060704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2697479"/>
            <a:ext cx="530352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D1110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观众与演员动作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04519" y="2560320"/>
            <a:ext cx="4297680" cy="1060704"/>
          </a:xfrm>
          <a:prstGeom prst="rect">
            <a:avLst/>
          </a:prstGeom>
          <a:solidFill>
            <a:srgbClr val="C6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41680" y="2697479"/>
            <a:ext cx="402336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D1110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验收重点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621024"/>
            <a:ext cx="3200400" cy="1060704"/>
          </a:xfrm>
          <a:prstGeom prst="rect">
            <a:avLst/>
          </a:prstGeom>
          <a:solidFill>
            <a:srgbClr val="18211F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39896"/>
            <a:ext cx="292608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A区约33min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3621024"/>
            <a:ext cx="3840480" cy="1060704"/>
          </a:xfrm>
          <a:prstGeom prst="rect">
            <a:avLst/>
          </a:prstGeom>
          <a:solidFill>
            <a:srgbClr val="18211F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3739896"/>
            <a:ext cx="356616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07归乡结束；引导灯与广播亮起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26679" y="3621024"/>
            <a:ext cx="5577840" cy="1060704"/>
          </a:xfrm>
          <a:prstGeom prst="rect">
            <a:avLst/>
          </a:prstGeom>
          <a:solidFill>
            <a:srgbClr val="18211F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3739896"/>
            <a:ext cx="530352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观众按左／中／右分块离场；演员走侧台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04519" y="3621024"/>
            <a:ext cx="4297680" cy="1060704"/>
          </a:xfrm>
          <a:prstGeom prst="rect">
            <a:avLst/>
          </a:prstGeom>
          <a:solidFill>
            <a:srgbClr val="18211F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441680" y="3739896"/>
            <a:ext cx="402336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观众通道无遮挡，禁止机械与人群同时占路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681727"/>
            <a:ext cx="3200400" cy="1060704"/>
          </a:xfrm>
          <a:prstGeom prst="rect">
            <a:avLst/>
          </a:prstGeom>
          <a:solidFill>
            <a:srgbClr val="0D1110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800599"/>
            <a:ext cx="292608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A→B暂按5–8min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86200" y="4681727"/>
            <a:ext cx="3840480" cy="1060704"/>
          </a:xfrm>
          <a:prstGeom prst="rect">
            <a:avLst/>
          </a:prstGeom>
          <a:solidFill>
            <a:srgbClr val="0D1110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4800599"/>
            <a:ext cx="356616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B区接应确认具备观看空间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26679" y="4681727"/>
            <a:ext cx="5577840" cy="1060704"/>
          </a:xfrm>
          <a:prstGeom prst="rect">
            <a:avLst/>
          </a:prstGeom>
          <a:solidFill>
            <a:srgbClr val="0D1110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4800599"/>
            <a:ext cx="530352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小批次模式约120人；整批模式须先扩展B区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04519" y="4681727"/>
            <a:ext cx="4297680" cy="1060704"/>
          </a:xfrm>
          <a:prstGeom prst="rect">
            <a:avLst/>
          </a:prstGeom>
          <a:solidFill>
            <a:srgbClr val="0D1110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441680" y="4800599"/>
            <a:ext cx="402336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用满员试走测时，未完成不能发下一批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742431"/>
            <a:ext cx="3200400" cy="1060704"/>
          </a:xfrm>
          <a:prstGeom prst="rect">
            <a:avLst/>
          </a:prstGeom>
          <a:solidFill>
            <a:srgbClr val="18211F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861303"/>
            <a:ext cx="292608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B区约10min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86200" y="5742431"/>
            <a:ext cx="3840480" cy="1060704"/>
          </a:xfrm>
          <a:prstGeom prst="rect">
            <a:avLst/>
          </a:prstGeom>
          <a:solidFill>
            <a:srgbClr val="18211F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0" y="5861303"/>
            <a:ext cx="356616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领鼓起拍；龙灯走廊清空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26679" y="5742431"/>
            <a:ext cx="5577840" cy="1060704"/>
          </a:xfrm>
          <a:prstGeom prst="rect">
            <a:avLst/>
          </a:prstGeom>
          <a:solidFill>
            <a:srgbClr val="18211F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5861303"/>
            <a:ext cx="530352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鼓舞正面展示；龙灯先行进入C区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304519" y="5742431"/>
            <a:ext cx="4297680" cy="1060704"/>
          </a:xfrm>
          <a:prstGeom prst="rect">
            <a:avLst/>
          </a:prstGeom>
          <a:solidFill>
            <a:srgbClr val="18211F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441680" y="5861303"/>
            <a:ext cx="402336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巡游线与观看带分开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6803136"/>
            <a:ext cx="3200400" cy="1060704"/>
          </a:xfrm>
          <a:prstGeom prst="rect">
            <a:avLst/>
          </a:prstGeom>
          <a:solidFill>
            <a:srgbClr val="0D1110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6922007"/>
            <a:ext cx="292608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B→C暂按3–5min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86200" y="6803136"/>
            <a:ext cx="3840480" cy="1060704"/>
          </a:xfrm>
          <a:prstGeom prst="rect">
            <a:avLst/>
          </a:prstGeom>
          <a:solidFill>
            <a:srgbClr val="0D1110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23360" y="6922007"/>
            <a:ext cx="356616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C区引导岗位与巡游终点到位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26679" y="6803136"/>
            <a:ext cx="5577840" cy="1060704"/>
          </a:xfrm>
          <a:prstGeom prst="rect">
            <a:avLst/>
          </a:prstGeom>
          <a:solidFill>
            <a:srgbClr val="0D1110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0" y="6922007"/>
            <a:ext cx="530352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游客沿转换通道进入外围观看区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304519" y="6803136"/>
            <a:ext cx="4297680" cy="1060704"/>
          </a:xfrm>
          <a:prstGeom prst="rect">
            <a:avLst/>
          </a:prstGeom>
          <a:solidFill>
            <a:srgbClr val="0D1110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441680" y="6922007"/>
            <a:ext cx="402336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避免龙身与游客在转弯口交叉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" y="7863840"/>
            <a:ext cx="3200400" cy="1060704"/>
          </a:xfrm>
          <a:prstGeom prst="rect">
            <a:avLst/>
          </a:prstGeom>
          <a:solidFill>
            <a:srgbClr val="18211F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7982712"/>
            <a:ext cx="292608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C区约15min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86200" y="7863840"/>
            <a:ext cx="3840480" cy="1060704"/>
          </a:xfrm>
          <a:prstGeom prst="rect">
            <a:avLst/>
          </a:prstGeom>
          <a:solidFill>
            <a:srgbClr val="18211F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23360" y="7982712"/>
            <a:ext cx="356616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花灯开场；互动邀请语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26679" y="7863840"/>
            <a:ext cx="5577840" cy="1060704"/>
          </a:xfrm>
          <a:prstGeom prst="rect">
            <a:avLst/>
          </a:prstGeom>
          <a:solidFill>
            <a:srgbClr val="18211F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0" y="7982712"/>
            <a:ext cx="530352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观看→自愿互动→狮舞告别→散场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3304519" y="7863840"/>
            <a:ext cx="4297680" cy="1060704"/>
          </a:xfrm>
          <a:prstGeom prst="rect">
            <a:avLst/>
          </a:prstGeom>
          <a:solidFill>
            <a:srgbClr val="18211F"/>
          </a:solidFill>
          <a:ln w="12700">
            <a:solidFill>
              <a:srgbClr val="9FA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441680" y="7982712"/>
            <a:ext cx="4023360" cy="8778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退出路线、溪流防护与基础照明持续有效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504920" y="9738360"/>
            <a:ext cx="100584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645920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DESIGN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41832"/>
            <a:ext cx="16916400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下一阶段｜还可以补充的成果清单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1682496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把本次方案建议逐项变成可核验的设计成果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9646920"/>
            <a:ext cx="16916400" cy="0"/>
          </a:xfrm>
          <a:prstGeom prst="line">
            <a:avLst/>
          </a:prstGeom>
          <a:ln w="6350">
            <a:solidFill>
              <a:srgbClr val="9FA5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84080"/>
            <a:ext cx="146304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魅力湘西 · 舞美设计深化｜新增尺寸、人数、时长均为方案建议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560320"/>
            <a:ext cx="5425440" cy="658368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34640"/>
            <a:ext cx="4876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空间与建筑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57600"/>
            <a:ext cx="4876800" cy="5120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现场测绘：A区净宽／层高／柱网、出口、坡道；B区实际可用院落；C区高差、临水和入口。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深化图纸：座椅定位、剖面视线、灯音点位、装置运动包络与演员候场。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先校核A区488位置与B区分批观看是否匹配。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31280" y="2560320"/>
            <a:ext cx="5425440" cy="658368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5600" y="2834640"/>
            <a:ext cx="4876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文化与表演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3657600"/>
            <a:ext cx="4876800" cy="5120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每个节目补1页来源依据：音乐版本、服饰、器物、地方称谓、授权／引用信息。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补人物关系图、关键动作分镜、服装与道具板，以及2–3个典型灯光状态。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由演员走台验证本文“支点”是否真能完成动作。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76760" y="2560320"/>
            <a:ext cx="5425440" cy="658368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51080" y="2834640"/>
            <a:ext cx="4876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技术与答辩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51080" y="3657600"/>
            <a:ext cx="4876800" cy="5120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完成灯光／音响／机械cue表，注明触发者、到位确认和替代动作。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补预算分项与分阶段实施：固定山体→可变装置→外场灯彩。</a:t>
            </a: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优先提交A区实尺寸图、三区观众满员试走记录和模型验证结果。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4920" y="9738360"/>
            <a:ext cx="100584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645920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PROGRAM 01 · CONTENT / ELEMENTS / ANCHORS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41832"/>
            <a:ext cx="16916400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01｜《茅古斯舞》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1682496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A区  ·  群舞／仪式化舞蹈  ·  下列调度为本次深化建议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9646920"/>
            <a:ext cx="16916400" cy="0"/>
          </a:xfrm>
          <a:prstGeom prst="line">
            <a:avLst/>
          </a:prstGeom>
          <a:ln w="6350">
            <a:solidFill>
              <a:srgbClr val="9FA5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84080"/>
            <a:ext cx="146304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魅力湘西 · 舞美设计深化｜新增尺寸、人数、时长均为方案建议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560320"/>
            <a:ext cx="516636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470916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节目内容与叙事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470916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以劳动、生命与自然的意象开场，不复刻未核实的祭仪；建议以“苏醒—劳作—聚合”建立山谷世界。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560320"/>
            <a:ext cx="553212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788920"/>
            <a:ext cx="507492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舞台要素与演员调度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20440"/>
            <a:ext cx="507492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固定山体、土坡、粗木柱与草编服饰；中央动作面净空。演员约12–16人，采用低位聚集、斜线穿行和圈形收束。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24360" y="2560320"/>
            <a:ext cx="557784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0" y="2788920"/>
            <a:ext cx="512064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支点：空间／道具／动作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0" y="3520440"/>
            <a:ext cx="512064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空间：低坡与圈心。</a:t>
            </a: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道具：服饰摆动与木杆的节奏。</a:t>
            </a: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动作／情绪：弯腰触地→挺身聚合，形成由土地到群体的力量。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7315200"/>
            <a:ext cx="16916400" cy="1755648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7498079"/>
            <a:ext cx="2194560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639C94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光声与转换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7479792"/>
            <a:ext cx="13990320" cy="8229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暗部呼吸→低重心劳动→中心聚圈；琥珀侧光配脚步／木击声，终止点留给铃声接入。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8458200"/>
            <a:ext cx="16367759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时长／深化要点：约4min；木杆与服饰不得卡入台面缝隙；开场不启用移动装置。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4920" y="9738360"/>
            <a:ext cx="100584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645920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PROGRAM 02 · CONTENT / ELEMENTS / ANCHORS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41832"/>
            <a:ext cx="16916400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02｜《铜铃舞 / 牛铃舞》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1682496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A区  ·  铃具节奏群舞  ·  下列调度为本次深化建议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9646920"/>
            <a:ext cx="16916400" cy="0"/>
          </a:xfrm>
          <a:prstGeom prst="line">
            <a:avLst/>
          </a:prstGeom>
          <a:ln w="6350">
            <a:solidFill>
              <a:srgbClr val="9FA5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84080"/>
            <a:ext cx="146304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魅力湘西 · 舞美设计深化｜新增尺寸、人数、时长均为方案建议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560320"/>
            <a:ext cx="516636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470916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节目内容与叙事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470916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以铃声、步伐与牧耕动作塑造日常生活；按实际节目资料确定两种称谓的关系，不把它们作为同一传统来源断言。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560320"/>
            <a:ext cx="553212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788920"/>
            <a:ext cx="507492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舞台要素与演员调度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20440"/>
            <a:ext cx="507492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木构栏架、矮台、铃具；不安排真实牲畜。约12–16人，从两侧木台交替进入，组成对列、交叉和圆形队形。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24360" y="2560320"/>
            <a:ext cx="557784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0" y="2788920"/>
            <a:ext cx="512064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支点：空间／道具／动作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0" y="3520440"/>
            <a:ext cx="512064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空间：栏架前的对列界面。</a:t>
            </a: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道具：手铃／腰铃形成发声支点。</a:t>
            </a: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动作／情绪：相互呼应→统一节拍，由个体劳作进入共同生活。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7315200"/>
            <a:ext cx="16916400" cy="1755648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7498079"/>
            <a:ext cx="2194560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639C94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光声与转换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7479792"/>
            <a:ext cx="13990320" cy="8229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先听铃后见人→节拍叠加→全体定格；铃声近拾音、扩声限峰，结尾让出河岸空间。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8458200"/>
            <a:ext cx="16367759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时长／深化要点：约3min；铃具牢固连接；核对服饰与民族来源，避免仅以“牧耕”泛化文化。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4920" y="9738360"/>
            <a:ext cx="100584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645920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PROGRAM 03 · CONTENT / ELEMENTS / ANCHORS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41832"/>
            <a:ext cx="16916400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03｜《边城》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1682496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A区  ·  歌舞叙事／双人关系段落  ·  下列调度为本次深化建议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9646920"/>
            <a:ext cx="16916400" cy="0"/>
          </a:xfrm>
          <a:prstGeom prst="line">
            <a:avLst/>
          </a:prstGeom>
          <a:ln w="6350">
            <a:solidFill>
              <a:srgbClr val="9FA5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84080"/>
            <a:ext cx="146304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魅力湘西 · 舞美设计深化｜新增尺寸、人数、时长均为方案建议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560320"/>
            <a:ext cx="516636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470916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节目内容与叙事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470916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以河岸相遇、等待与错身表现爱情；若采用文学《边城》，人物及情节需与改编依据对应。舞台抓住“看见但未能靠近”的关系。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560320"/>
            <a:ext cx="553212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788920"/>
            <a:ext cx="507492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舞台要素与演员调度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20440"/>
            <a:ext cx="507492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侧台写意渡口、栏杆、船形轻道具与纱幕水纹。约2位主角＋6–8位环境演员；用两岸的距离而非写实河道建立场景。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24360" y="2560320"/>
            <a:ext cx="557784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0" y="2788920"/>
            <a:ext cx="512064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支点：空间／道具／动作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0" y="3520440"/>
            <a:ext cx="512064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空间：两岸与渡口。</a:t>
            </a: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道具：竹篙／船形构件。</a:t>
            </a: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动作／情绪：隔岸凝视→试图靠近→停在渡口，空间距离变为情感距离。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7315200"/>
            <a:ext cx="16916400" cy="1755648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7498079"/>
            <a:ext cx="2194560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639C94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光声与转换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7479792"/>
            <a:ext cx="13990320" cy="8229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暖色人物光与蓝绿水纹并置；移动道具由演员推移，不载人机械漂浮；结尾保持一束等待光。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8458200"/>
            <a:ext cx="16367759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时长／深化要点：约5min；无真水以简化转换；投影避开人物面部，检查后排对双岸动作的辨识度。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4920" y="9738360"/>
            <a:ext cx="100584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645920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PROGRAM 04 · CONTENT / ELEMENTS / ANCHORS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41832"/>
            <a:ext cx="16916400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04｜《马桑树儿搭灯台》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1682496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A区  ·  声乐／情境舞蹈  ·  下列调度为本次深化建议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9646920"/>
            <a:ext cx="16916400" cy="0"/>
          </a:xfrm>
          <a:prstGeom prst="line">
            <a:avLst/>
          </a:prstGeom>
          <a:ln w="6350">
            <a:solidFill>
              <a:srgbClr val="9FA5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84080"/>
            <a:ext cx="146304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魅力湘西 · 舞美设计深化｜新增尺寸、人数、时长均为方案建议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560320"/>
            <a:ext cx="516636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470916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节目内容与叙事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470916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围绕离别后的承诺与守候展开；如引入革命历史背景，应注明所依据版本。建议以“送别—独守—回声”构成抒情段落。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560320"/>
            <a:ext cx="553212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788920"/>
            <a:ext cx="507492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舞台要素与演员调度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20440"/>
            <a:ext cx="507492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树影、灯、信物与侧台栏杆；约1位主唱／主舞＋4–6位环境演员。留白减少大队形，中央不设置多余移景。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24360" y="2560320"/>
            <a:ext cx="557784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0" y="2788920"/>
            <a:ext cx="512064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支点：空间／道具／动作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0" y="3520440"/>
            <a:ext cx="512064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空间：树下与眺望平台。</a:t>
            </a: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道具：灯与信物。</a:t>
            </a: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动作／情绪：交付信物→抬灯远望→留灯空位，把未归者的缺席转为支点。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7315200"/>
            <a:ext cx="16916400" cy="1755648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7498079"/>
            <a:ext cx="2194560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639C94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光声与转换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7479792"/>
            <a:ext cx="13990320" cy="8229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歌声先于动作；一侧暖灯与远处冷光形成距离。灯影末尾慢慢转向女儿会的集市灯彩。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8458200"/>
            <a:ext cx="16367759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时长／深化要点：约4min；选定曲谱／歌词版本后排练；灯具采用电池LED，控制舞台暗部通行。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4920" y="9738360"/>
            <a:ext cx="100584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645920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PROGRAM 05 · CONTENT / ELEMENTS / ANCHORS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41832"/>
            <a:ext cx="16916400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05｜《情恋女儿会》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1682496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A区  ·  对歌／群舞／情境交流  ·  下列调度为本次深化建议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9646920"/>
            <a:ext cx="16916400" cy="0"/>
          </a:xfrm>
          <a:prstGeom prst="line">
            <a:avLst/>
          </a:prstGeom>
          <a:ln w="6350">
            <a:solidFill>
              <a:srgbClr val="9FA5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84080"/>
            <a:ext cx="146304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魅力湘西 · 舞美设计深化｜新增尺寸、人数、时长均为方案建议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560320"/>
            <a:ext cx="516636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470916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节目内容与叙事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470916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从相遇、试探到选择，突出女性表达与双方回应；以对歌和节庆交流组织关系，不把互动写成单向围观或强制婚恋游戏。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560320"/>
            <a:ext cx="553212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788920"/>
            <a:ext cx="507492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舞台要素与演员调度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20440"/>
            <a:ext cx="507492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可移动摊位、织锦、路口平台与手帕。约16–20人，左右阵营对唱→交错穿行→中心成组；保留一条贯通纵深路线。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24360" y="2560320"/>
            <a:ext cx="557784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0" y="2788920"/>
            <a:ext cx="512064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支点：空间／道具／动作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0" y="3520440"/>
            <a:ext cx="512064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空间：集市路口与两阵营边界。</a:t>
            </a: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道具：织锦／手帕作为回应信号。</a:t>
            </a: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动作／情绪：递出→接住→并肩，选择由演员的明确回应完成。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7315200"/>
            <a:ext cx="16916400" cy="1755648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7498079"/>
            <a:ext cx="2194560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639C94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光声与转换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7479792"/>
            <a:ext cx="13990320" cy="8229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暖色多点灯与问答节奏；不直接邀请坐席观众上台。散场时摊位回侧台，家中小灯自然接哭嫁。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8458200"/>
            <a:ext cx="16367759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时长／深化要点：约5min；木台设锁止；道具移位与演员走位分时，严禁占用座席通道。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4920" y="9738360"/>
            <a:ext cx="100584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645920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PROGRAM 06 · CONTENT / ELEMENTS / ANCHORS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41832"/>
            <a:ext cx="16916400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06｜《哭嫁》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1682496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A区  ·  哭唱／母女对唱／仪式舞蹈  ·  下列调度为本次深化建议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9646920"/>
            <a:ext cx="16916400" cy="0"/>
          </a:xfrm>
          <a:prstGeom prst="line">
            <a:avLst/>
          </a:prstGeom>
          <a:ln w="6350">
            <a:solidFill>
              <a:srgbClr val="9FA5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84080"/>
            <a:ext cx="146304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魅力湘西 · 舞美设计深化｜新增尺寸、人数、时长均为方案建议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560320"/>
            <a:ext cx="516636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470916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节目内容与叙事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470916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延续原稿梳头、陪哭、告别、跨门四节点；增强母亲与女儿的双向回应。重心是情感转换，避免只呈现悲伤表情。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560320"/>
            <a:ext cx="553212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788920"/>
            <a:ext cx="507492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舞台要素与演员调度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20440"/>
            <a:ext cx="507492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二层闺房、木梯、门槛、圆台、嫁妆箱；约1位新娘＋母亲＋6–8位姐妹。闺房可低位替代，升高结构需专项核定。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24360" y="2560320"/>
            <a:ext cx="557784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0" y="2788920"/>
            <a:ext cx="512064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支点：空间／道具／动作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0" y="3520440"/>
            <a:ext cx="512064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空间：闺房→木梯→门槛。</a:t>
            </a: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道具：木梳、铜镜与嫁妆箱。</a:t>
            </a: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动作／情绪：梳头手停顿→母女相拥→跨门回望，是全场最清晰的三次落点。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7315200"/>
            <a:ext cx="16916400" cy="1755648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7498079"/>
            <a:ext cx="2194560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639C94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光声与转换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7479792"/>
            <a:ext cx="13990320" cy="8229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独唱→母女对哭→女声合唱；暖红／琥珀聚焦双人，迎亲鼓声在跨门前远处进入；圆台保持锁定。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8458200"/>
            <a:ext cx="16367759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时长／深化要点：约6min；哭唱文本与表演程式需查证；箱体不挡梯口，二层与门槛设置防跌落措施。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4920" y="9738360"/>
            <a:ext cx="100584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645920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PROGRAM 07 · CONTENT / ELEMENTS / ANCHORS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41832"/>
            <a:ext cx="16916400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07｜《湘西赶尸》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1682496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A区  ·  民间传说题材／肢体剧／光影叙事  ·  下列调度为本次深化建议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9646920"/>
            <a:ext cx="16916400" cy="0"/>
          </a:xfrm>
          <a:prstGeom prst="line">
            <a:avLst/>
          </a:prstGeom>
          <a:ln w="6350">
            <a:solidFill>
              <a:srgbClr val="9FA5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84080"/>
            <a:ext cx="146304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魅力湘西 · 舞美设计深化｜新增尺寸、人数、时长均为方案建议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560320"/>
            <a:ext cx="516636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470916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节目内容与叙事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470916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沿用原稿归乡、忠义与纪念的改编设定，明确为艺术化叙事。领路—夜行—认亲—迎接，避免把猎奇幻术作为唯一主题。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560320"/>
            <a:ext cx="553212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788920"/>
            <a:ext cx="507492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舞台要素与演员调度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20440"/>
            <a:ext cx="507492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屋顶高位山门、两侧楼梯、薄雾／纱幕、石碑与引路灯；领路人＋6–10位归乡者，纵深队列由后区到前区推进。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24360" y="2560320"/>
            <a:ext cx="557784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0" y="2788920"/>
            <a:ext cx="512064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支点：空间／道具／动作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0" y="3520440"/>
            <a:ext cx="512064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空间：山门与纵深归乡路。</a:t>
            </a: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道具：引路灯、铃与认亲信物。</a:t>
            </a: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动作／情绪：停步→递信物→家人迎接，将“未知”转成“被辨认”。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7315200"/>
            <a:ext cx="16916400" cy="1755648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7498079"/>
            <a:ext cx="2194560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639C94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光声与转换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7479792"/>
            <a:ext cx="13990320" cy="8229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冷逆光与脚步节拍建立夜行；停步后弱化雾效，黎明侧光出现；最后以铃声和引导语引向B区。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8458200"/>
            <a:ext cx="16367759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时长／深化要点：约6min；禁止封闭演员视线的浓雾；屋顶升降前清场并确认到位；雾效须评估报警和呼吸舒适。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4920" y="9738360"/>
            <a:ext cx="100584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645920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PROGRAM 08 · CONTENT / ELEMENTS / ANCHORS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41832"/>
            <a:ext cx="16916400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08｜《桑植仗鼓舞》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1682496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B区  ·  鼓乐群舞／队形表演  ·  下列调度为本次深化建议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9646920"/>
            <a:ext cx="16916400" cy="0"/>
          </a:xfrm>
          <a:prstGeom prst="line">
            <a:avLst/>
          </a:prstGeom>
          <a:ln w="6350">
            <a:solidFill>
              <a:srgbClr val="9FA5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84080"/>
            <a:ext cx="146304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魅力湘西 · 舞美设计深化｜新增尺寸、人数、时长均为方案建议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560320"/>
            <a:ext cx="516636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470916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节目内容与叙事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470916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名称沿用原稿，后续核对地方称谓与节目资料。以呼应、竞奏和合奏重新聚集力量，承接A区叙事后外场情绪的打开。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560320"/>
            <a:ext cx="553212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788920"/>
            <a:ext cx="507492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舞台要素与演员调度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20440"/>
            <a:ext cx="507492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30×18m建议核心动作面、后部低鼓台、两侧入场口；约16–24人。四列推进→两组交锋→半圆合奏，正面主视点保持稳定。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24360" y="2560320"/>
            <a:ext cx="557784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0" y="2788920"/>
            <a:ext cx="512064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支点：空间／道具／动作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0" y="3520440"/>
            <a:ext cx="512064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空间：低鼓台与两组对阵线。</a:t>
            </a: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道具：鼓与鼓槌。</a:t>
            </a: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动作／情绪：领鼓起拍→集体转身→全场同击，明确群体由分散到统一。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7315200"/>
            <a:ext cx="16916400" cy="1755648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7498079"/>
            <a:ext cx="2194560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639C94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光声与转换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7479792"/>
            <a:ext cx="13990320" cy="8229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近身收鼓＋左右补声；琥珀侧光与白色节奏光同步。鼓点延续为龙灯入场的行进节拍。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8458200"/>
            <a:ext cx="16367759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时长／深化要点：约5min；鼓架防滑和锁止；高架仅作灯／鼓台意向，不默认承担高空绝技。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4920" y="9738360"/>
            <a:ext cx="100584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645920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PROGRAM 09 · CONTENT / ELEMENTS / ANCHORS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41832"/>
            <a:ext cx="16916400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09｜《板板龙灯》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1682496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B→C区  ·  灯龙群舞／巡游  ·  下列调度为本次深化建议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9646920"/>
            <a:ext cx="16916400" cy="0"/>
          </a:xfrm>
          <a:prstGeom prst="line">
            <a:avLst/>
          </a:prstGeom>
          <a:ln w="6350">
            <a:solidFill>
              <a:srgbClr val="9FA5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84080"/>
            <a:ext cx="146304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魅力湘西 · 舞美设计深化｜新增尺寸、人数、时长均为方案建议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560320"/>
            <a:ext cx="516636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470916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节目内容与叙事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470916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把协作抬举、连续龙身与盘旋路线作为看点；B区集中展示后沿独立巡游线进入C区。路线在节目中可见，观众并不追随龙身混行。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560320"/>
            <a:ext cx="553212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788920"/>
            <a:ext cx="507492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舞台要素与演员调度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20440"/>
            <a:ext cx="507492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分节轻型龙灯、转弯标记、低位引导灯；约12–20人，按灯体节数与重量调整。建议巡游净宽4m，预留转弯缓冲区。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24360" y="2560320"/>
            <a:ext cx="557784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0" y="2788920"/>
            <a:ext cx="512064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支点：空间／道具／动作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0" y="3520440"/>
            <a:ext cx="512064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空间：B区圈场与B→C连接段。</a:t>
            </a: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道具：连续灯节的连接节点。</a:t>
            </a: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动作／情绪：举灯→盘龙→抬头出场，以相互配合维持完整龙身。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7315200"/>
            <a:ext cx="16916400" cy="1755648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7498079"/>
            <a:ext cx="2194560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639C94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光声与转换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7479792"/>
            <a:ext cx="13990320" cy="8229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先开走廊、再发巡游；用锣鼓与LED灯彩延续节拍，C区接应演员建立终点圈场。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8458200"/>
            <a:ext cx="16367759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时长／深化要点：约5min；采用LED替代明火；转弯半径需以整灯试排确认，灯龙与游客转换分批、分线。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4920" y="9738360"/>
            <a:ext cx="100584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645920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PROGRAM 10 · CONTENT / ELEMENTS / ANCHORS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41832"/>
            <a:ext cx="16916400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10｜《张家界高花灯》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1682496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C区  ·  灯彩歌舞／入场展示  ·  下列调度为本次深化建议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9646920"/>
            <a:ext cx="16916400" cy="0"/>
          </a:xfrm>
          <a:prstGeom prst="line">
            <a:avLst/>
          </a:prstGeom>
          <a:ln w="6350">
            <a:solidFill>
              <a:srgbClr val="9FA5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84080"/>
            <a:ext cx="146304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魅力湘西 · 舞美设计深化｜新增尺寸、人数、时长均为方案建议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560320"/>
            <a:ext cx="516636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470916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节目内容与叙事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470916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建议围绕迎宾、灯彩展示与群体庆典设计；具体人物、唱段及高花灯形制依据当地资料确认，不能仅凭名称假定高跷或高空技巧。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560320"/>
            <a:ext cx="553212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788920"/>
            <a:ext cx="507492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舞台要素与演员调度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20440"/>
            <a:ext cx="507492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中央直径16m建议核心、外围灯彩入口与两处停驻点；約12–16人，以对列迎宾→交叉亮灯→环形展示组织。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24360" y="2560320"/>
            <a:ext cx="557784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0" y="2788920"/>
            <a:ext cx="512064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支点：空间／道具／动作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0" y="3520440"/>
            <a:ext cx="512064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空间：入口停驻点与核心边缘。</a:t>
            </a: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道具：灯架／花灯及手持灯。</a:t>
            </a: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动作／情绪：亮灯→对看→转向观众，建立从观看到参与的邀请。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7315200"/>
            <a:ext cx="16916400" cy="1755648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7498079"/>
            <a:ext cx="2194560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639C94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光声与转换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7479792"/>
            <a:ext cx="13990320" cy="8229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暖色低位灯与面光保证人脸可见；灯彩分区点亮，末段让出演员邀请通道给摆手舞。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8458200"/>
            <a:ext cx="16367759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时长／深化要点：约4min；立杆、灯架需风荷载与锚固核定；不在现阶段添加未经确认的高空项目。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4920" y="9738360"/>
            <a:ext cx="100584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645920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PROGRAM 11 · CONTENT / ELEMENTS / ANCHORS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41832"/>
            <a:ext cx="16916400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11｜《摆手舞》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1682496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C区  ·  领舞／群舞／自愿互动  ·  下列调度为本次深化建议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9646920"/>
            <a:ext cx="16916400" cy="0"/>
          </a:xfrm>
          <a:prstGeom prst="line">
            <a:avLst/>
          </a:prstGeom>
          <a:ln w="6350">
            <a:solidFill>
              <a:srgbClr val="9FA5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84080"/>
            <a:ext cx="146304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魅力湘西 · 舞美设计深化｜新增尺寸、人数、时长均为方案建议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560320"/>
            <a:ext cx="516636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470916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节目内容与叙事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470916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演员先示范基础动作，再邀请观众进入外圈；形成“看懂—跟做—合圈”。观众可参与，也可停留在观看区，不强求全场进入核心。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560320"/>
            <a:ext cx="553212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788920"/>
            <a:ext cx="507492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舞台要素与演员调度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20440"/>
            <a:ext cx="507492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中央直径16m核心、16–30m直径互动环、外围观看带；建议16–20名领舞／引导演员分扇区布置，保持两条穿越通道。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24360" y="2560320"/>
            <a:ext cx="557784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0" y="2788920"/>
            <a:ext cx="512064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支点：空间／道具／动作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0" y="3520440"/>
            <a:ext cx="512064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空间：同心圈与演员引导缺口。</a:t>
            </a: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道具：低位引导灯／标志，不依赖大型道具。</a:t>
            </a: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动作／情绪：同向摆手→同拍转身→全圈回应，让共享节奏成为支点。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7315200"/>
            <a:ext cx="16916400" cy="1755648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7498079"/>
            <a:ext cx="2194560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639C94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光声与转换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7479792"/>
            <a:ext cx="13990320" cy="8229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先慢速示范再统一节拍；建议首轮≤80人，经实地试排调整。外围观众始终可看见领舞，不以鼓声掩盖导引语。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8458200"/>
            <a:ext cx="16367759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时长／深化要点：约6min；儿童与行动不便者可在边缘体验；不强拉观众，入口与退出通道持续可用。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4920" y="9738360"/>
            <a:ext cx="100584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645920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PROGRAM 12 · CONTENT / ELEMENTS / ANCHORS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41832"/>
            <a:ext cx="16916400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1EEE5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12｜《草狮子舞》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1682496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C区  ·  狮舞／巡游／祈福终场  ·  下列调度为本次深化建议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9646920"/>
            <a:ext cx="16916400" cy="0"/>
          </a:xfrm>
          <a:prstGeom prst="line">
            <a:avLst/>
          </a:prstGeom>
          <a:ln w="6350">
            <a:solidFill>
              <a:srgbClr val="9FA5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84080"/>
            <a:ext cx="146304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魅力湘西 · 舞美设计深化｜新增尺寸、人数、时长均为方案建议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560320"/>
            <a:ext cx="516636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470916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节目内容与叙事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470916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以迎场、逗引、献礼和告别收束庆典；祈福作为艺术意象，具体仪式来源需查证。狮队穿行外圈，核心保留清晰观看面。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560320"/>
            <a:ext cx="553212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788920"/>
            <a:ext cx="507492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舞台要素与演员调度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20440"/>
            <a:ext cx="507492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草编狮体、低平台、祈福灯与外围巡游线；建议2–3组狮队＋6–8位引导演员，不增加未核定的跳高／高台动作。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24360" y="2560320"/>
            <a:ext cx="5577840" cy="4434840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0" y="2788920"/>
            <a:ext cx="512064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支点：空间／道具／动作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0" y="3520440"/>
            <a:ext cx="5120640" cy="32918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空间：巡游停驻点与低平台。</a:t>
            </a: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道具：狮头、草编狮体与引导物。</a:t>
            </a:r>
          </a:p>
          <a:p>
            <a:pPr>
              <a:spcAft>
                <a:spcPts val="800"/>
              </a:spcAft>
              <a:defRPr sz="20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动作／情绪：俯身问候→围圈回应→面向出口告别，把终场转为有序散场。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7315200"/>
            <a:ext cx="16916400" cy="1755648"/>
          </a:xfrm>
          <a:prstGeom prst="rect">
            <a:avLst/>
          </a:prstGeom>
          <a:solidFill>
            <a:srgbClr val="18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7498079"/>
            <a:ext cx="2194560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639C94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光声与转换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7479792"/>
            <a:ext cx="13990320" cy="8229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D6D7CF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锣鼓收束→灯彩全亮→渐入散场广播；LED模拟火光，保留原稿火焰意象但不使用明火。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8458200"/>
            <a:ext cx="16367759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FA59C"/>
                </a:solidFill>
                <a:latin typeface="Noto Sans SC"/>
                <a:ea typeface="Noto Sans SC"/>
                <a:cs typeface="Noto Sans SC"/>
              </a:defRPr>
            </a:pPr>
            <a:r>
              <a:rPr>
                <a:latin typeface="Noto Sans SC"/>
                <a:ea typeface="Noto Sans SC"/>
                <a:cs typeface="Noto Sans SC"/>
              </a:rPr>
              <a:t>时长／深化要点：约5min；表演后引导观众离开互动环，工作人员留守边界；狮体检查阻燃、视野与透气性。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4920" y="9738360"/>
            <a:ext cx="100584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C6A66B"/>
                </a:solidFill>
                <a:latin typeface="Noto Sans SC"/>
                <a:ea typeface="Noto Sans SC"/>
                <a:cs typeface="Noto Sans SC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2276</Words>
  <Application>WPS 演示</Application>
  <PresentationFormat>Converted Presentation</PresentationFormat>
  <Paragraphs>343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WPS_1729232129</cp:lastModifiedBy>
  <cp:revision>2</cp:revision>
  <dcterms:created xsi:type="dcterms:W3CDTF">2026-10-07T13:42:16Z</dcterms:created>
  <dcterms:modified xsi:type="dcterms:W3CDTF">2026-10-07T13:42:47Z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AD129E61FF094C71858A299B56DEB44A_13</vt:lpwstr>
  </property>
</Properties>
</file>