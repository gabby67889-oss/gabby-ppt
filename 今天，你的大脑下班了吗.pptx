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开场先保持几秒安静，再开始邀请大家回忆。整套演讲约15分钟。正文尽量面向观众讲，屏幕只承载关键句。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邀请观众回忆第一条信息，停顿5秒，再问早餐。如果记得视频却忘了早餐的味道，我们今天可能有共同话题。用原稿中“手机像特别热心的班主任”的段子引入：它觉得我每分钟都应该知道一点什么，却没有问我还有地方放吗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讲述一天结束后躺下“放空”，却在十分钟里看到诈骗、争吵、装修和早睡提醒的场景。笑点：再看一条，缓解一下晚睡的焦虑。核心问题是：我们缓解信息过载的方式，是否又是继续接收信息？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承认现实限制，避免一句“少看手机”解决所有问题。找作业要求时点开视频，找一张参考图时收藏三十张却还没开始画。最难的是它们都在同一块屏幕上。进入时有目的，出来时却忘了为什么进去。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西蒙提醒我们，信息消耗的是接收者的注意力。每条消息都需要判断：和我有关吗？需要现在处理吗？不回复会不会有问题？判断所需的精力，不会随消息数量一起增加。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想象舞台上二十个人说话，十盏追光移动，屏幕不停切换。每个部分都可能精彩，但观众会问：我到底该看哪里？用舞台隐喻注意力。生活需要焦点，但下一个提示音常常先到了。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释继续刷的动机，不把它简单归为懒。安静时会想到作业、说错的话、明天的担心。娱乐可以带来安慰和快乐。关键问题：这口气，我们有没有真正喘过来？原稿提到的896人问卷研究缺少完整出处，本页不使用该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邀请观众回忆：一条不好看，划走；下一条一般，继续划；最后连过程也无聊，却没退出。用不断给收音机调台、半小时没听完一首歌的比喻。Tam与Inzlicht的2024年研究包含7个实验，共1223人；部分视频实验发现切换增加无聊，降低投入与满意。不同材料与样本的结果并不完全一致，不能推成所有人的必然规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澄清波兹曼主要讨论电视时代公共话语的娱乐化，而不是简单反对娱乐。本页对当下的分析是延伸思考。简洁和有趣都好，但有些内容无法在保持完整的同时无限缩短。理解处境、判断复杂问题、完成设计都需要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自己的找参考经历：每收藏一张都感觉以后用得上，然而自己的图纸仍空白。别人的作品是完成的状态，自己的创作必须经历笨拙、难看、没人点赞的阶段。更多参考有时帮助创作，有时推迟创作。追问：今天看到的东西，有没有让我形成一个自己的想法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避免把演讲变成另一种自律压力：看电影不一定学知识，散步不必听课，吃饭不必了解国际形势。休息不需要证明有用。一部让人投入的电影，两个小时也可以很好。区分享受与不享受却继续。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的可以是查上课地点、回复消息，也完全可以是看视频。说清目的，是记住自己从哪扇门进来。给体验安排结尾，因为信息流不会替我们宣布演出结束。必须接收的信息，则在条件允许时集中处理，减少反复被打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这个问题比“我怎么又失败了”更容易带来具体答案。不同的需要需要不同的回应。用喝水不能替代吃饭、睡觉和拥抱的比喻。对任务可以把“做完方案”缩小成“先画一个轮廓”。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邀请大家留一小段没有被安排成输入的时间。起初可能不习惯，因为我们已经擅长填满每个空隙。舞台的停顿不代表没有发生：演员沉默时，观众也许正在理解刚才的话；灯光暗下时，情绪才真正抵达。生活也需要消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回到题目。我们不能关掉所有通知，也无法随时离开压力。但可以练习辨认自己的状态。这三个问题不会立刻改变一切，却可以为自动行为增加一次选择的机会。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为舞台设计专业学生，我常问观众应该看见什么。现在也问自己，生活中什么值得看见？停顿。今晚如果发现不知道自己在看什么，可以轻轻放下手机。不用立刻学习，也不用马上更优秀。让今天那么多声音慢慢安静下来，给自己的声音一点出现的机会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上传原稿末尾未提供896名大学生问卷研究的完整书目信息，故本PPT不引用该项具体数据。西蒙原文链接：https://gwern.net/doc/design/1971-simon.pdf 。第三项DOI：https://doi.org/10.1037/xge0001639 。资料信息根据原稿内容整理，未进行在线全文核验。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411480" cy="50292"/>
          </a:xfrm>
          <a:prstGeom prst="rect">
            <a:avLst/>
          </a:prstGeom>
          <a:solidFill>
            <a:srgbClr val="EDC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29184"/>
            <a:ext cx="9144000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关于信息、娱乐与注意力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89920" cy="11430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今天，你的大脑</a:t>
            </a:r>
          </a:p>
          <a:p>
            <a:pPr>
              <a:spcAft>
                <a:spcPts val="1000"/>
              </a:spcAft>
              <a:defRPr sz="34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下班了吗？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9144000" cy="2286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今天，你的大脑下班了吗？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520440"/>
            <a:ext cx="8229600" cy="7315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让注意力，重新成为自己的选择。</a:t>
            </a:r>
          </a:p>
        </p:txBody>
      </p:sp>
      <p:sp>
        <p:nvSpPr>
          <p:cNvPr id="8" name="Oval 7"/>
          <p:cNvSpPr/>
          <p:nvPr/>
        </p:nvSpPr>
        <p:spPr>
          <a:xfrm>
            <a:off x="9509760" y="2286000"/>
            <a:ext cx="1143000" cy="1143000"/>
          </a:xfrm>
          <a:prstGeom prst="ellipse">
            <a:avLst/>
          </a:prstGeom>
          <a:solidFill>
            <a:srgbClr val="EDC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41080" y="5120640"/>
            <a:ext cx="2743200" cy="73152"/>
          </a:xfrm>
          <a:prstGeom prst="rect">
            <a:avLst/>
          </a:prstGeom>
          <a:solidFill>
            <a:srgbClr val="79C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5257800"/>
            <a:ext cx="7315200" cy="4572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约 15 分钟 · 主题演讲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411480" cy="50292"/>
          </a:xfrm>
          <a:prstGeom prst="rect">
            <a:avLst/>
          </a:prstGeom>
          <a:solidFill>
            <a:srgbClr val="EDC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29184"/>
            <a:ext cx="9144000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开场 · 现场互动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89920" cy="11430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今天醒来，你先记住了什么？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029968"/>
            <a:ext cx="10698480" cy="5943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不用拿出手机。只在心里回想。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9144000" cy="2286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今天，你的大脑下班了吗？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926080"/>
            <a:ext cx="5239512" cy="2240280"/>
          </a:xfrm>
          <a:prstGeom prst="rect">
            <a:avLst/>
          </a:prstGeom>
          <a:solidFill>
            <a:srgbClr val="1D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090672"/>
            <a:ext cx="4873751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584448"/>
            <a:ext cx="4873751" cy="5943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第一条信息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279392"/>
            <a:ext cx="4873751" cy="7315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闹钟、群通知，还是一条推荐视频？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8776" y="2926080"/>
            <a:ext cx="5239512" cy="2240280"/>
          </a:xfrm>
          <a:prstGeom prst="rect">
            <a:avLst/>
          </a:prstGeom>
          <a:solidFill>
            <a:srgbClr val="1D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3090672"/>
            <a:ext cx="4873751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584448"/>
            <a:ext cx="4873751" cy="5943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早餐的味道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4279392"/>
            <a:ext cx="4873751" cy="7315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你还记得今天早上吃了什么吗？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411480" cy="50292"/>
          </a:xfrm>
          <a:prstGeom prst="rect">
            <a:avLst/>
          </a:prstGeom>
          <a:solidFill>
            <a:srgbClr val="EDC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29184"/>
            <a:ext cx="9144000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01 · 一天的循环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89920" cy="11430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身体躺下了，大脑还在接待客人。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9144000" cy="2286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今天，你的大脑下班了吗？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2926080"/>
            <a:ext cx="5239512" cy="2240280"/>
          </a:xfrm>
          <a:prstGeom prst="rect">
            <a:avLst/>
          </a:prstGeom>
          <a:solidFill>
            <a:srgbClr val="1D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3090672"/>
            <a:ext cx="4873751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584448"/>
            <a:ext cx="4873751" cy="5943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白天：被动接收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4279392"/>
            <a:ext cx="4873751" cy="7315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通知 → 消息 → 资料 → 临时任务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8776" y="2926080"/>
            <a:ext cx="5239512" cy="2240280"/>
          </a:xfrm>
          <a:prstGeom prst="rect">
            <a:avLst/>
          </a:prstGeom>
          <a:solidFill>
            <a:srgbClr val="1D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3090672"/>
            <a:ext cx="4873751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3584448"/>
            <a:ext cx="4873751" cy="5943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晚上：继续输入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4279392"/>
            <a:ext cx="4873751" cy="7315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短视频 → 热点 → 推荐 → 再看一条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如果休息也是输入，大脑什么时候下班？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411480" cy="50292"/>
          </a:xfrm>
          <a:prstGeom prst="rect">
            <a:avLst/>
          </a:prstGeom>
          <a:solidFill>
            <a:srgbClr val="EDC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29184"/>
            <a:ext cx="9144000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02 · 现实的难题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89920" cy="11430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很多信息，我们确实不能不看。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029968"/>
            <a:ext cx="10698480" cy="5943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手机既承载责任，也承载诱惑。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9144000" cy="2286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今天，你的大脑下班了吗？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926080"/>
            <a:ext cx="5239512" cy="2240280"/>
          </a:xfrm>
          <a:prstGeom prst="rect">
            <a:avLst/>
          </a:prstGeom>
          <a:solidFill>
            <a:srgbClr val="1D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090672"/>
            <a:ext cx="4873751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584448"/>
            <a:ext cx="4873751" cy="5943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必须处理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279392"/>
            <a:ext cx="4873751" cy="7315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课程通知 / 小组进度 / 家人电话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8776" y="2926080"/>
            <a:ext cx="5239512" cy="2240280"/>
          </a:xfrm>
          <a:prstGeom prst="rect">
            <a:avLst/>
          </a:prstGeom>
          <a:solidFill>
            <a:srgbClr val="1D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3090672"/>
            <a:ext cx="4873751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584448"/>
            <a:ext cx="4873751" cy="5943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顺手进入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4279392"/>
            <a:ext cx="4873751" cy="7315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相关推荐 / 短视频 / 更多参考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411480" cy="50292"/>
          </a:xfrm>
          <a:prstGeom prst="rect">
            <a:avLst/>
          </a:prstGeom>
          <a:solidFill>
            <a:srgbClr val="EDC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29184"/>
            <a:ext cx="9144000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03 · 注意力的代价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89920" cy="11430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信息越来越多，焦点越来越少。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9144000" cy="2286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今天，你的大脑下班了吗？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607040" cy="109728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“信息的丰富，造成了注意力的匮乏。”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03320"/>
            <a:ext cx="9144000" cy="4572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—— 赫伯特·西蒙，1971（意译）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10058400" cy="7315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每条消息都很短，但判断和切换都需要注意力。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411480" cy="50292"/>
          </a:xfrm>
          <a:prstGeom prst="rect">
            <a:avLst/>
          </a:prstGeom>
          <a:solidFill>
            <a:srgbClr val="EDC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29184"/>
            <a:ext cx="9144000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舞美视角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89920" cy="11430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如果所有追光同时亮起，</a:t>
            </a:r>
          </a:p>
          <a:p>
            <a:pPr>
              <a:spcAft>
                <a:spcPts val="1000"/>
              </a:spcAft>
              <a:defRPr sz="34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观众该看哪里？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9144000" cy="2286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今天，你的大脑下班了吗？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06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3200400"/>
            <a:ext cx="457200" cy="457200"/>
          </a:xfrm>
          <a:prstGeom prst="ellipse">
            <a:avLst/>
          </a:prstGeom>
          <a:solidFill>
            <a:srgbClr val="1D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5029200"/>
            <a:ext cx="1737360" cy="45720"/>
          </a:xfrm>
          <a:prstGeom prst="rect">
            <a:avLst/>
          </a:prstGeom>
          <a:solidFill>
            <a:srgbClr val="1D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0" y="3200400"/>
            <a:ext cx="457200" cy="457200"/>
          </a:xfrm>
          <a:prstGeom prst="ellipse">
            <a:avLst/>
          </a:prstGeom>
          <a:solidFill>
            <a:srgbClr val="29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0" y="5029200"/>
            <a:ext cx="1737360" cy="45720"/>
          </a:xfrm>
          <a:prstGeom prst="rect">
            <a:avLst/>
          </a:prstGeom>
          <a:solidFill>
            <a:srgbClr val="29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94960" y="3200400"/>
            <a:ext cx="457200" cy="457200"/>
          </a:xfrm>
          <a:prstGeom prst="ellipse">
            <a:avLst/>
          </a:prstGeom>
          <a:solidFill>
            <a:srgbClr val="354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0" y="5029200"/>
            <a:ext cx="1737360" cy="45720"/>
          </a:xfrm>
          <a:prstGeom prst="rect">
            <a:avLst/>
          </a:prstGeom>
          <a:solidFill>
            <a:srgbClr val="354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89519" y="3200400"/>
            <a:ext cx="457200" cy="457200"/>
          </a:xfrm>
          <a:prstGeom prst="ellipse">
            <a:avLst/>
          </a:prstGeom>
          <a:solidFill>
            <a:srgbClr val="79C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5029200"/>
            <a:ext cx="1737360" cy="45720"/>
          </a:xfrm>
          <a:prstGeom prst="rect">
            <a:avLst/>
          </a:prstGeom>
          <a:solidFill>
            <a:srgbClr val="79C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84080" y="3200400"/>
            <a:ext cx="457200" cy="457200"/>
          </a:xfrm>
          <a:prstGeom prst="ellipse">
            <a:avLst/>
          </a:prstGeom>
          <a:solidFill>
            <a:srgbClr val="EDC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92640" y="5029200"/>
            <a:ext cx="1737360" cy="45720"/>
          </a:xfrm>
          <a:prstGeom prst="rect">
            <a:avLst/>
          </a:prstGeom>
          <a:solidFill>
            <a:srgbClr val="EDC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5778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生活也需要一个焦点。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411480" cy="50292"/>
          </a:xfrm>
          <a:prstGeom prst="rect">
            <a:avLst/>
          </a:prstGeom>
          <a:solidFill>
            <a:srgbClr val="EDC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29184"/>
            <a:ext cx="9144000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04 · 为什么停不下来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89920" cy="11430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有时，我们在屏幕里寻找安慰。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029968"/>
            <a:ext cx="10698480" cy="5943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安静下来，未完成的事和对明天的担心就浮了出来。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9144000" cy="2286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今天，你的大脑下班了吗？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926080"/>
            <a:ext cx="3419856" cy="2240280"/>
          </a:xfrm>
          <a:prstGeom prst="rect">
            <a:avLst/>
          </a:prstGeom>
          <a:solidFill>
            <a:srgbClr val="1D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090672"/>
            <a:ext cx="3054096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584448"/>
            <a:ext cx="3054096" cy="5943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疲惫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279392"/>
            <a:ext cx="3054096" cy="7315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终于可以不用再做决定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926080"/>
            <a:ext cx="3419856" cy="2240280"/>
          </a:xfrm>
          <a:prstGeom prst="rect">
            <a:avLst/>
          </a:prstGeom>
          <a:solidFill>
            <a:srgbClr val="1D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3090672"/>
            <a:ext cx="3054096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584448"/>
            <a:ext cx="3054096" cy="5943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压力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4279392"/>
            <a:ext cx="3054096" cy="7315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暂时离开“还不够好”的声音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8431" y="2926080"/>
            <a:ext cx="3419856" cy="2240280"/>
          </a:xfrm>
          <a:prstGeom prst="rect">
            <a:avLst/>
          </a:prstGeom>
          <a:solidFill>
            <a:srgbClr val="1D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090672"/>
            <a:ext cx="3054096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84448"/>
            <a:ext cx="3054096" cy="5943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回避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279392"/>
            <a:ext cx="3054096" cy="7315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晚一点面对那件困难的事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411480" cy="50292"/>
          </a:xfrm>
          <a:prstGeom prst="rect">
            <a:avLst/>
          </a:prstGeom>
          <a:solidFill>
            <a:srgbClr val="EDC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29184"/>
            <a:ext cx="9144000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05 · “下一条”循环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89920" cy="11430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这一条不好看，</a:t>
            </a:r>
          </a:p>
          <a:p>
            <a:pPr>
              <a:spcAft>
                <a:spcPts val="1000"/>
              </a:spcAft>
              <a:defRPr sz="34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为什么还不退出？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9144000" cy="2286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今天，你的大脑下班了吗？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00400"/>
            <a:ext cx="3337560" cy="1737360"/>
          </a:xfrm>
          <a:prstGeom prst="rect">
            <a:avLst/>
          </a:prstGeom>
          <a:solidFill>
            <a:srgbClr val="1D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38144"/>
            <a:ext cx="2926080" cy="54864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无聊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60520"/>
            <a:ext cx="2926080" cy="4572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想换点内容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3200400"/>
            <a:ext cx="3337560" cy="1737360"/>
          </a:xfrm>
          <a:prstGeom prst="rect">
            <a:avLst/>
          </a:prstGeom>
          <a:solidFill>
            <a:srgbClr val="1D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3438144"/>
            <a:ext cx="2926080" cy="54864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切换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4160520"/>
            <a:ext cx="2926080" cy="4572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下一条也许更好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3200400"/>
            <a:ext cx="3337560" cy="1737360"/>
          </a:xfrm>
          <a:prstGeom prst="rect">
            <a:avLst/>
          </a:prstGeom>
          <a:solidFill>
            <a:srgbClr val="1D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3438144"/>
            <a:ext cx="2926080" cy="54864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更无聊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4160520"/>
            <a:ext cx="2926080" cy="4572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投入与满足减少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40680"/>
            <a:ext cx="10058400" cy="54864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79C9C0"/>
                </a:solidFill>
                <a:latin typeface="Noto Sans CJK SC"/>
              </a:defRPr>
            </a:pPr>
            <a:r>
              <a:rPr>
                <a:ea typeface="Noto Sans CJK SC"/>
              </a:rPr>
              <a:t>给一个选择，一点时间。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411480" cy="50292"/>
          </a:xfrm>
          <a:prstGeom prst="rect">
            <a:avLst/>
          </a:prstGeom>
          <a:solidFill>
            <a:srgbClr val="EDC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29184"/>
            <a:ext cx="9144000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06 · 从《娱乐至死》出发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89920" cy="11430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当一切都要立刻有趣，</a:t>
            </a:r>
          </a:p>
          <a:p>
            <a:pPr>
              <a:spcAft>
                <a:spcPts val="1000"/>
              </a:spcAft>
              <a:defRPr sz="34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我们还能耐心到哪里？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9144000" cy="2286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今天，你的大脑下班了吗？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515600" cy="201168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复杂的新闻 → 30 秒讲清楚？</a:t>
            </a:r>
          </a:p>
          <a:p>
            <a:pPr>
              <a:spcAft>
                <a:spcPts val="1000"/>
              </a:spcAft>
              <a:defRPr sz="2500" b="0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一本书的铺垫 → 1 分钟看完版？</a:t>
            </a:r>
          </a:p>
          <a:p>
            <a:pPr>
              <a:spcAft>
                <a:spcPts val="1000"/>
              </a:spcAft>
              <a:defRPr sz="2500" b="0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尚未成形的设计 → 先换件有反馈的事？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03520"/>
            <a:ext cx="10515600" cy="64008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有些理解，需要背景、过程和等待。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411480" cy="50292"/>
          </a:xfrm>
          <a:prstGeom prst="rect">
            <a:avLst/>
          </a:prstGeom>
          <a:solidFill>
            <a:srgbClr val="EDC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29184"/>
            <a:ext cx="9144000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07 · 创作中的自己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89920" cy="11430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收藏夹越来越满，</a:t>
            </a:r>
          </a:p>
          <a:p>
            <a:pPr>
              <a:spcAft>
                <a:spcPts val="1000"/>
              </a:spcAft>
              <a:defRPr sz="34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自己的图纸还是空的。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9144000" cy="2286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今天，你的大脑下班了吗？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2926080"/>
            <a:ext cx="5239512" cy="2240280"/>
          </a:xfrm>
          <a:prstGeom prst="rect">
            <a:avLst/>
          </a:prstGeom>
          <a:solidFill>
            <a:srgbClr val="1D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3090672"/>
            <a:ext cx="4873751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584448"/>
            <a:ext cx="4873751" cy="5943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看见别人的完成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4279392"/>
            <a:ext cx="4873751" cy="7315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漂亮构图 / 材质 / 准确灯光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8776" y="2926080"/>
            <a:ext cx="5239512" cy="2240280"/>
          </a:xfrm>
          <a:prstGeom prst="rect">
            <a:avLst/>
          </a:prstGeom>
          <a:solidFill>
            <a:srgbClr val="1D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3090672"/>
            <a:ext cx="4873751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3584448"/>
            <a:ext cx="4873751" cy="5943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允许自己的未完成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4279392"/>
            <a:ext cx="4873751" cy="7315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草稿 / 试错 / 修改 / 形成判断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411480" cy="50292"/>
          </a:xfrm>
          <a:prstGeom prst="rect">
            <a:avLst/>
          </a:prstGeom>
          <a:solidFill>
            <a:srgbClr val="EDC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29184"/>
            <a:ext cx="9144000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08 · 重新理解休息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89920" cy="11430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娱乐可以只是快乐。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029968"/>
            <a:ext cx="10698480" cy="5943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一个笑话让你笑了，它就已经完成了工作。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9144000" cy="2286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今天，你的大脑下班了吗？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926080"/>
            <a:ext cx="5239512" cy="2240280"/>
          </a:xfrm>
          <a:prstGeom prst="rect">
            <a:avLst/>
          </a:prstGeom>
          <a:solidFill>
            <a:srgbClr val="1D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090672"/>
            <a:ext cx="4873751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584448"/>
            <a:ext cx="4873751" cy="5943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我在享受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279392"/>
            <a:ext cx="4873751" cy="7315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我愿意看，也允许自己享受。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8776" y="2926080"/>
            <a:ext cx="5239512" cy="2240280"/>
          </a:xfrm>
          <a:prstGeom prst="rect">
            <a:avLst/>
          </a:prstGeom>
          <a:solidFill>
            <a:srgbClr val="1D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3090672"/>
            <a:ext cx="4873751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584448"/>
            <a:ext cx="4873751" cy="5943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我已不享受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4279392"/>
            <a:ext cx="4873751" cy="7315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我很累，却仍在自动继续。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32120"/>
            <a:ext cx="10058400" cy="54864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值得辨认的，是自己的状态。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411480" cy="50292"/>
          </a:xfrm>
          <a:prstGeom prst="rect">
            <a:avLst/>
          </a:prstGeom>
          <a:solidFill>
            <a:srgbClr val="EDC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29184"/>
            <a:ext cx="9144000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09 · 三个小动作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89920" cy="11430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打开之前，先留一句话的时间。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9144000" cy="2286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今天，你的大脑下班了吗？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2926080"/>
            <a:ext cx="3419856" cy="2240280"/>
          </a:xfrm>
          <a:prstGeom prst="rect">
            <a:avLst/>
          </a:prstGeom>
          <a:solidFill>
            <a:srgbClr val="1D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3090672"/>
            <a:ext cx="3054096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584448"/>
            <a:ext cx="3054096" cy="5943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说清目的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4279392"/>
            <a:ext cx="3054096" cy="7315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我现在来这里做什么？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926080"/>
            <a:ext cx="3419856" cy="2240280"/>
          </a:xfrm>
          <a:prstGeom prst="rect">
            <a:avLst/>
          </a:prstGeom>
          <a:solidFill>
            <a:srgbClr val="1D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3090672"/>
            <a:ext cx="3054096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584448"/>
            <a:ext cx="3054096" cy="5943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安排结尾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4279392"/>
            <a:ext cx="3054096" cy="7315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这一集 / 这一局 / 20 分钟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28431" y="2926080"/>
            <a:ext cx="3419856" cy="2240280"/>
          </a:xfrm>
          <a:prstGeom prst="rect">
            <a:avLst/>
          </a:prstGeom>
          <a:solidFill>
            <a:srgbClr val="1D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090672"/>
            <a:ext cx="3054096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584448"/>
            <a:ext cx="3054096" cy="5943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分清轻重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279392"/>
            <a:ext cx="3054096" cy="7315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哪些立刻回？哪些能集中处理？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411480" cy="50292"/>
          </a:xfrm>
          <a:prstGeom prst="rect">
            <a:avLst/>
          </a:prstGeom>
          <a:solidFill>
            <a:srgbClr val="EDC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29184"/>
            <a:ext cx="9144000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10 · 先问需要，再选行动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89920" cy="11430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如果关掉手机，</a:t>
            </a:r>
          </a:p>
          <a:p>
            <a:pPr>
              <a:spcAft>
                <a:spcPts val="1000"/>
              </a:spcAft>
              <a:defRPr sz="34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我最不想面对的是什么？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9144000" cy="2286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今天，你的大脑下班了吗？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828800" cy="4572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疲惫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788920"/>
            <a:ext cx="548640" cy="4572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788920"/>
            <a:ext cx="7315200" cy="4572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睡觉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19856"/>
            <a:ext cx="1828800" cy="4572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孤独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419856"/>
            <a:ext cx="548640" cy="4572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419856"/>
            <a:ext cx="7315200" cy="4572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一次真正的交流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50791"/>
            <a:ext cx="1828800" cy="4572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任务太难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050791"/>
            <a:ext cx="548640" cy="4572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050791"/>
            <a:ext cx="7315200" cy="4572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先画一个轮廓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81727"/>
            <a:ext cx="1828800" cy="4572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想要快乐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681727"/>
            <a:ext cx="548640" cy="4572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681727"/>
            <a:ext cx="7315200" cy="4572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选一个喜欢的内容，安心看完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411480" cy="50292"/>
          </a:xfrm>
          <a:prstGeom prst="rect">
            <a:avLst/>
          </a:prstGeom>
          <a:solidFill>
            <a:srgbClr val="EDC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29184"/>
            <a:ext cx="9144000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11 · 给消化留一点空隙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89920" cy="11430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空隙，也可以只是空隙。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9144000" cy="2286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今天，你的大脑下班了吗？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9144000" cy="201168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走一段路。</a:t>
            </a:r>
          </a:p>
          <a:p>
            <a:pPr>
              <a:spcAft>
                <a:spcPts val="1000"/>
              </a:spcAft>
              <a:defRPr sz="3000" b="0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吃几口饭。</a:t>
            </a:r>
          </a:p>
          <a:p>
            <a:pPr>
              <a:spcAft>
                <a:spcPts val="1000"/>
              </a:spcAft>
              <a:defRPr sz="3000" b="0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等一会儿电梯。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166360"/>
            <a:ext cx="10058400" cy="7315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不急着输入，也不必追求效率。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411480" cy="50292"/>
          </a:xfrm>
          <a:prstGeom prst="rect">
            <a:avLst/>
          </a:prstGeom>
          <a:solidFill>
            <a:srgbClr val="EDC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29184"/>
            <a:ext cx="9144000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12 · 把选择拿回来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89920" cy="11430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此刻，我可以问自己：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9144000" cy="2286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今天，你的大脑下班了吗？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10515600" cy="237744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900" b="0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我是在享受，还是已经疲惫？</a:t>
            </a:r>
          </a:p>
          <a:p>
            <a:pPr>
              <a:spcAft>
                <a:spcPts val="1000"/>
              </a:spcAft>
              <a:defRPr sz="2900" b="0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我需要新内容，还是需要消化？</a:t>
            </a:r>
          </a:p>
          <a:p>
            <a:pPr>
              <a:spcAft>
                <a:spcPts val="1000"/>
              </a:spcAft>
              <a:defRPr sz="2900" b="0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我继续滑，是想看，还是不愿停？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440680"/>
            <a:ext cx="10424160" cy="5943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79C9C0"/>
                </a:solidFill>
                <a:latin typeface="Noto Sans CJK SC"/>
              </a:defRPr>
            </a:pPr>
            <a:r>
              <a:rPr>
                <a:ea typeface="Noto Sans CJK SC"/>
              </a:rPr>
              <a:t>让自动发生的行为，重新成为可以选择的行动。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411480" cy="50292"/>
          </a:xfrm>
          <a:prstGeom prst="rect">
            <a:avLst/>
          </a:prstGeom>
          <a:solidFill>
            <a:srgbClr val="EDC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29184"/>
            <a:ext cx="9144000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结尾 · 留一个问题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89920" cy="11430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我的生活里，</a:t>
            </a:r>
          </a:p>
          <a:p>
            <a:pPr>
              <a:spcAft>
                <a:spcPts val="1000"/>
              </a:spcAft>
              <a:defRPr sz="34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什么值得被我看见？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9144000" cy="2286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今天，你的大脑下班了吗？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10515600" cy="12801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下一条推荐？坐在对面的人？</a:t>
            </a:r>
          </a:p>
          <a:p>
            <a:pPr>
              <a:spcAft>
                <a:spcPts val="1000"/>
              </a:spcAft>
              <a:defRPr sz="25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还是那个需要亲手完成的想法？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74920"/>
            <a:ext cx="10515600" cy="6858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给自己的声音，留一点出现的机会。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897880"/>
            <a:ext cx="5486400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谢谢大家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02920"/>
            <a:ext cx="411480" cy="50292"/>
          </a:xfrm>
          <a:prstGeom prst="rect">
            <a:avLst/>
          </a:prstGeom>
          <a:solidFill>
            <a:srgbClr val="EDC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329184"/>
            <a:ext cx="9144000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资料 · 不纳入演讲计时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89920" cy="11430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4F0E8"/>
                </a:solidFill>
                <a:latin typeface="Noto Sans CJK SC"/>
              </a:defRPr>
            </a:pPr>
            <a:r>
              <a:rPr>
                <a:ea typeface="Noto Sans CJK SC"/>
              </a:rPr>
              <a:t>参考资料与使用说明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9088"/>
            <a:ext cx="9144000" cy="22860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今天，你的大脑下班了吗？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457200" cy="2743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Herbert A. Simon · 1971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9192"/>
            <a:ext cx="10515600" cy="7315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Designing Organizations for an Information-Rich World.</a:t>
            </a:r>
          </a:p>
          <a:p>
            <a:pPr>
              <a:spcAft>
                <a:spcPts val="1000"/>
              </a:spcAft>
              <a:defRPr sz="14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载 Computers, Communications, and the Public Interest.（注意力引文为意译）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01568"/>
            <a:ext cx="10515600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Neil Postman · 1985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59"/>
            <a:ext cx="10515600" cy="7315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Amusing Ourselves to Death（《娱乐至死》）.</a:t>
            </a:r>
          </a:p>
          <a:p>
            <a:pPr>
              <a:spcAft>
                <a:spcPts val="1000"/>
              </a:spcAft>
              <a:defRPr sz="14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原书讨论电视时代公共话语；本演讲对短视频与创作的分析为延伸思考。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17136"/>
            <a:ext cx="10515600" cy="36576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C777"/>
                </a:solidFill>
                <a:latin typeface="Noto Sans CJK SC"/>
              </a:defRPr>
            </a:pPr>
            <a:r>
              <a:rPr>
                <a:ea typeface="Noto Sans CJK SC"/>
              </a:rPr>
              <a:t>Katy Y. Y. Tam &amp; Michael Inzlicht ·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10327"/>
            <a:ext cx="10515600" cy="731520"/>
          </a:xfrm>
          <a:prstGeom prst="rect">
            <a:avLst/>
          </a:prstGeom>
          <a:noFill/>
        </p:spPr>
        <p:txBody>
          <a:bodyPr wrap="square" lIns="18288" rIns="18288" tIns="27432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Fast-forward to boredom: How switching behavior on digital media makes</a:t>
            </a:r>
          </a:p>
          <a:p>
            <a:pPr>
              <a:spcAft>
                <a:spcPts val="1000"/>
              </a:spcAft>
              <a:defRPr sz="14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people more bored. Journal of Experimental Psychology: General.</a:t>
            </a:r>
          </a:p>
          <a:p>
            <a:pPr>
              <a:spcAft>
                <a:spcPts val="1000"/>
              </a:spcAft>
              <a:defRPr sz="1400" b="0">
                <a:solidFill>
                  <a:srgbClr val="AEB9C5"/>
                </a:solidFill>
                <a:latin typeface="Noto Sans CJK SC"/>
              </a:defRPr>
            </a:pPr>
            <a:r>
              <a:rPr>
                <a:ea typeface="Noto Sans CJK SC"/>
              </a:rPr>
              <a:t>DOI: 10.1037/xge0001639（结果存在材料与样本边界）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